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</p:sldIdLst>
  <p:sldSz cx="14630400" cy="8229600"/>
  <p:notesSz cx="8229600" cy="14630400"/>
  <p:embeddedFontLst>
    <p:embeddedFont>
      <p:font typeface="Instrument Sans Semi Bold" pitchFamily="34" charset="-120"/>
      <p:regular r:id="rId25"/>
    </p:embeddedFont>
    <p:embeddedFont>
      <p:font typeface="Instrument Sans Medium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微软雅黑" panose="020B0503020204020204" charset="-122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5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6.svg"/><Relationship Id="rId41" Type="http://schemas.openxmlformats.org/officeDocument/2006/relationships/notesSlide" Target="../notesSlides/notesSlide7.xml"/><Relationship Id="rId40" Type="http://schemas.openxmlformats.org/officeDocument/2006/relationships/slideLayout" Target="../slideLayouts/slideLayout8.xml"/><Relationship Id="rId4" Type="http://schemas.openxmlformats.org/officeDocument/2006/relationships/image" Target="../media/image5.png"/><Relationship Id="rId39" Type="http://schemas.openxmlformats.org/officeDocument/2006/relationships/image" Target="../media/image23.png"/><Relationship Id="rId38" Type="http://schemas.openxmlformats.org/officeDocument/2006/relationships/image" Target="../media/image22.svg"/><Relationship Id="rId37" Type="http://schemas.openxmlformats.org/officeDocument/2006/relationships/image" Target="../media/image21.png"/><Relationship Id="rId36" Type="http://schemas.openxmlformats.org/officeDocument/2006/relationships/image" Target="../media/image20.svg"/><Relationship Id="rId35" Type="http://schemas.openxmlformats.org/officeDocument/2006/relationships/image" Target="../media/image19.png"/><Relationship Id="rId34" Type="http://schemas.openxmlformats.org/officeDocument/2006/relationships/image" Target="../media/image18.svg"/><Relationship Id="rId33" Type="http://schemas.openxmlformats.org/officeDocument/2006/relationships/image" Target="../media/image17.png"/><Relationship Id="rId32" Type="http://schemas.openxmlformats.org/officeDocument/2006/relationships/image" Target="../media/image16.svg"/><Relationship Id="rId31" Type="http://schemas.openxmlformats.org/officeDocument/2006/relationships/image" Target="../media/image15.png"/><Relationship Id="rId30" Type="http://schemas.openxmlformats.org/officeDocument/2006/relationships/image" Target="../media/image14.svg"/><Relationship Id="rId3" Type="http://schemas.openxmlformats.org/officeDocument/2006/relationships/tags" Target="../tags/tag18.xml"/><Relationship Id="rId29" Type="http://schemas.openxmlformats.org/officeDocument/2006/relationships/image" Target="../media/image13.png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image" Target="../media/image12.svg"/><Relationship Id="rId25" Type="http://schemas.openxmlformats.org/officeDocument/2006/relationships/image" Target="../media/image11.png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7.xml"/><Relationship Id="rId19" Type="http://schemas.openxmlformats.org/officeDocument/2006/relationships/image" Target="../media/image10.svg"/><Relationship Id="rId18" Type="http://schemas.openxmlformats.org/officeDocument/2006/relationships/image" Target="../media/image9.png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image" Target="../media/image8.svg"/><Relationship Id="rId11" Type="http://schemas.openxmlformats.org/officeDocument/2006/relationships/image" Target="../media/image7.png"/><Relationship Id="rId10" Type="http://schemas.openxmlformats.org/officeDocument/2006/relationships/tags" Target="../tags/tag23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9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4.xml"/><Relationship Id="rId17" Type="http://schemas.openxmlformats.org/officeDocument/2006/relationships/image" Target="../media/image28.png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3.svg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34295" y="2574687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享阅应用项目文档</a:t>
            </a:r>
            <a:endParaRPr lang="en-US" sz="39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36990" y="3714036"/>
            <a:ext cx="75564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高校学习资源共享平台项目小组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536990" y="4254818"/>
            <a:ext cx="75564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成员:龙海桦 陈柏岌 伯程 杨承恩 | 重庆师范大学软件工程系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36990" y="4795599"/>
            <a:ext cx="75564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联系方式:</a:t>
            </a:r>
            <a:r>
              <a:rPr lang="en-US" sz="1550" u="sng" dirty="0">
                <a:solidFill>
                  <a:srgbClr val="0540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2560197809@qq.com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965716"/>
            <a:ext cx="4465558" cy="558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项目背景与核心目标</a:t>
            </a:r>
            <a:endParaRPr lang="en-US" sz="35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1925717"/>
            <a:ext cx="2679383" cy="3348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平台定位与价值</a:t>
            </a:r>
            <a:endParaRPr lang="en-US" sz="21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2421255"/>
            <a:ext cx="6977420" cy="8143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享阅是面向高校师生的智能化学习资源共享平台,旨在解决传统教育环境中学习资料获取困难、优质资源分散、知识共享效率低下等核心痛点。平台通过构建完善的用户体系、资源管理机制和智能辅助系统,为高校学习社区提供全方位的资源共享解决方案。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396377"/>
            <a:ext cx="2679383" cy="3348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用户角色体系</a:t>
            </a:r>
            <a:endParaRPr lang="en-US" sz="21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3891915"/>
            <a:ext cx="697742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学生用户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:资源上传下载、评论互动、订阅关注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4219575"/>
            <a:ext cx="697742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教师用户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:发布优质资源、参与审核、引导学习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4547235"/>
            <a:ext cx="697742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审核员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:资源审核、举报处理、平台维护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4598" y="1945838"/>
            <a:ext cx="178594" cy="223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01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14598" y="2226588"/>
            <a:ext cx="5629513" cy="2286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13" name="Text 11"/>
          <p:cNvSpPr/>
          <p:nvPr/>
        </p:nvSpPr>
        <p:spPr>
          <a:xfrm>
            <a:off x="8214598" y="2361605"/>
            <a:ext cx="2232779" cy="278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需求分析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14598" y="2801303"/>
            <a:ext cx="5629513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调研用户需求与痛点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14598" y="3367445"/>
            <a:ext cx="178594" cy="223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02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14598" y="3648194"/>
            <a:ext cx="5629513" cy="2286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17" name="Text 15"/>
          <p:cNvSpPr/>
          <p:nvPr/>
        </p:nvSpPr>
        <p:spPr>
          <a:xfrm>
            <a:off x="8214598" y="3783211"/>
            <a:ext cx="2232779" cy="278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系统设计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14598" y="4222909"/>
            <a:ext cx="5629513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架构设计与模块规划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14598" y="4789051"/>
            <a:ext cx="178594" cy="223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03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14598" y="5069800"/>
            <a:ext cx="5629513" cy="2286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21" name="Text 19"/>
          <p:cNvSpPr/>
          <p:nvPr/>
        </p:nvSpPr>
        <p:spPr>
          <a:xfrm>
            <a:off x="8214598" y="5204817"/>
            <a:ext cx="2232779" cy="278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开发实现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14598" y="5644515"/>
            <a:ext cx="5629513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前后端功能开发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14598" y="6210657"/>
            <a:ext cx="178594" cy="223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04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14598" y="6491407"/>
            <a:ext cx="5629513" cy="2286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25" name="Text 23"/>
          <p:cNvSpPr/>
          <p:nvPr/>
        </p:nvSpPr>
        <p:spPr>
          <a:xfrm>
            <a:off x="8214598" y="6626423"/>
            <a:ext cx="2232779" cy="278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测试部署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14598" y="7066121"/>
            <a:ext cx="5629513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系统测试与优化上线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660440" y="1555393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系统整体架构设计</a:t>
            </a:r>
            <a:endParaRPr lang="en-US" sz="39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100" y="2926517"/>
            <a:ext cx="4347567" cy="7937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5458" y="3918664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后端服务层</a:t>
            </a:r>
            <a:endParaRPr lang="en-US" sz="1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05458" y="4347885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Flask RESTful API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提供统一接口服务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05458" y="4784487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SQLAlchemy ORM数据持久化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05458" y="5171440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PostgreSQL关系型数据库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05458" y="5558393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AI智能助手集成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667" y="2926517"/>
            <a:ext cx="4347567" cy="7937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53025" y="3918664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前端应用层</a:t>
            </a:r>
            <a:endParaRPr lang="en-US" sz="1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153025" y="4347885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Qt6 C++桌面客户端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提供丰富交互体验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153025" y="4784487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 Widgets界面组件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153025" y="5171440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 Network网络通信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153025" y="5558393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 Pdf文档预览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234" y="2926517"/>
            <a:ext cx="4347567" cy="79379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500592" y="3918664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通信协议层</a:t>
            </a:r>
            <a:endParaRPr lang="en-US" sz="1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9500592" y="4347885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API + HTTP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标准化数据交换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9500592" y="4784487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JSON数据格式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9500592" y="5171440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Token身份验证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9500592" y="5558393"/>
            <a:ext cx="395085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文件分片上传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97905" y="564594"/>
            <a:ext cx="3721298" cy="465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数据库模型设计</a:t>
            </a:r>
            <a:endParaRPr lang="en-US" sz="29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97865" y="1431925"/>
            <a:ext cx="11671300" cy="416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系统采用关系型数据库PostgreSQL存储核心业务数据,通过SQLAlchemy ORM实现对象关系映射。数据模型围绕用户、资源、交互三大核心实体展开设计,确保数据一致性和业务逻辑完整性。</a:t>
            </a:r>
            <a:endParaRPr lang="en-US" sz="16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13725" y="2058789"/>
            <a:ext cx="3722370" cy="1013817"/>
          </a:xfrm>
          <a:prstGeom prst="roundRect">
            <a:avLst>
              <a:gd name="adj" fmla="val 13214"/>
            </a:avLst>
          </a:prstGeom>
          <a:solidFill>
            <a:srgbClr val="CEE6FD"/>
          </a:solidFill>
        </p:spPr>
      </p:sp>
      <p:sp>
        <p:nvSpPr>
          <p:cNvPr id="8" name="Text 5"/>
          <p:cNvSpPr/>
          <p:nvPr/>
        </p:nvSpPr>
        <p:spPr>
          <a:xfrm>
            <a:off x="2962553" y="2207617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用户模型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2962553" y="2507059"/>
            <a:ext cx="3424714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用户名、密码(加密存储)、角色(student/teacher/moderator)、创建时间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167211" y="2029579"/>
            <a:ext cx="3722489" cy="1013817"/>
          </a:xfrm>
          <a:prstGeom prst="roundRect">
            <a:avLst>
              <a:gd name="adj" fmla="val 13214"/>
            </a:avLst>
          </a:prstGeom>
          <a:solidFill>
            <a:srgbClr val="CEE6FD"/>
          </a:solidFill>
        </p:spPr>
      </p:sp>
      <p:sp>
        <p:nvSpPr>
          <p:cNvPr id="11" name="Text 8"/>
          <p:cNvSpPr/>
          <p:nvPr/>
        </p:nvSpPr>
        <p:spPr>
          <a:xfrm>
            <a:off x="8316039" y="2178407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 资源模型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316039" y="2477849"/>
            <a:ext cx="3424833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标题、描述、文件路径、上传者、状态(pending/approved/rejected)、审核者、创建时间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0"/>
          <p:cNvSpPr/>
          <p:nvPr>
            <p:custDataLst>
              <p:tags r:id="rId1"/>
            </p:custDataLst>
          </p:nvPr>
        </p:nvSpPr>
        <p:spPr>
          <a:xfrm>
            <a:off x="697865" y="3169920"/>
            <a:ext cx="12835890" cy="805180"/>
          </a:xfrm>
          <a:prstGeom prst="roundRect">
            <a:avLst>
              <a:gd name="adj" fmla="val 16633"/>
            </a:avLst>
          </a:prstGeom>
          <a:solidFill>
            <a:srgbClr val="CEE6FD"/>
          </a:solidFill>
        </p:spPr>
      </p:sp>
      <p:sp>
        <p:nvSpPr>
          <p:cNvPr id="14" name="Text 11"/>
          <p:cNvSpPr/>
          <p:nvPr>
            <p:custDataLst>
              <p:tags r:id="rId2"/>
            </p:custDataLst>
          </p:nvPr>
        </p:nvSpPr>
        <p:spPr>
          <a:xfrm>
            <a:off x="846733" y="3319026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Tag 标签模型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2"/>
          <p:cNvSpPr/>
          <p:nvPr>
            <p:custDataLst>
              <p:tags r:id="rId3"/>
            </p:custDataLst>
          </p:nvPr>
        </p:nvSpPr>
        <p:spPr>
          <a:xfrm>
            <a:off x="846733" y="3618468"/>
            <a:ext cx="7258764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标签名称、关联资源、多对多关系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6" name="Shape 13"/>
          <p:cNvSpPr/>
          <p:nvPr>
            <p:custDataLst>
              <p:tags r:id="rId4"/>
            </p:custDataLst>
          </p:nvPr>
        </p:nvSpPr>
        <p:spPr>
          <a:xfrm>
            <a:off x="697865" y="4101465"/>
            <a:ext cx="12832715" cy="805180"/>
          </a:xfrm>
          <a:prstGeom prst="roundRect">
            <a:avLst>
              <a:gd name="adj" fmla="val 16633"/>
            </a:avLst>
          </a:prstGeom>
          <a:solidFill>
            <a:srgbClr val="CEE6FD"/>
          </a:solidFill>
        </p:spPr>
      </p:sp>
      <p:sp>
        <p:nvSpPr>
          <p:cNvPr id="17" name="Text 14"/>
          <p:cNvSpPr/>
          <p:nvPr>
            <p:custDataLst>
              <p:tags r:id="rId5"/>
            </p:custDataLst>
          </p:nvPr>
        </p:nvSpPr>
        <p:spPr>
          <a:xfrm>
            <a:off x="846733" y="4249976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Comment 评论模型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5"/>
          <p:cNvSpPr/>
          <p:nvPr>
            <p:custDataLst>
              <p:tags r:id="rId6"/>
            </p:custDataLst>
          </p:nvPr>
        </p:nvSpPr>
        <p:spPr>
          <a:xfrm>
            <a:off x="846733" y="4549418"/>
            <a:ext cx="7258764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内容、作者、所属资源、父评论(支持树形回复)、创建时间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6"/>
          <p:cNvSpPr/>
          <p:nvPr>
            <p:custDataLst>
              <p:tags r:id="rId7"/>
            </p:custDataLst>
          </p:nvPr>
        </p:nvSpPr>
        <p:spPr>
          <a:xfrm>
            <a:off x="697865" y="5018405"/>
            <a:ext cx="12820650" cy="805180"/>
          </a:xfrm>
          <a:prstGeom prst="roundRect">
            <a:avLst>
              <a:gd name="adj" fmla="val 16633"/>
            </a:avLst>
          </a:prstGeom>
          <a:solidFill>
            <a:srgbClr val="CEE6FD"/>
          </a:solidFill>
        </p:spPr>
      </p:sp>
      <p:sp>
        <p:nvSpPr>
          <p:cNvPr id="20" name="Text 17"/>
          <p:cNvSpPr/>
          <p:nvPr>
            <p:custDataLst>
              <p:tags r:id="rId8"/>
            </p:custDataLst>
          </p:nvPr>
        </p:nvSpPr>
        <p:spPr>
          <a:xfrm>
            <a:off x="846733" y="5166995"/>
            <a:ext cx="1904643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Subscription 订阅模型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18"/>
          <p:cNvSpPr/>
          <p:nvPr>
            <p:custDataLst>
              <p:tags r:id="rId9"/>
            </p:custDataLst>
          </p:nvPr>
        </p:nvSpPr>
        <p:spPr>
          <a:xfrm>
            <a:off x="846733" y="5466437"/>
            <a:ext cx="7258764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订阅者、被订阅者、订阅时间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2" name="Shape 19"/>
          <p:cNvSpPr/>
          <p:nvPr>
            <p:custDataLst>
              <p:tags r:id="rId10"/>
            </p:custDataLst>
          </p:nvPr>
        </p:nvSpPr>
        <p:spPr>
          <a:xfrm>
            <a:off x="697865" y="5935345"/>
            <a:ext cx="12820015" cy="805180"/>
          </a:xfrm>
          <a:prstGeom prst="roundRect">
            <a:avLst>
              <a:gd name="adj" fmla="val 16633"/>
            </a:avLst>
          </a:prstGeom>
          <a:solidFill>
            <a:srgbClr val="CEE6FD"/>
          </a:solidFill>
        </p:spPr>
      </p:sp>
      <p:sp>
        <p:nvSpPr>
          <p:cNvPr id="23" name="Text 20"/>
          <p:cNvSpPr/>
          <p:nvPr>
            <p:custDataLst>
              <p:tags r:id="rId11"/>
            </p:custDataLst>
          </p:nvPr>
        </p:nvSpPr>
        <p:spPr>
          <a:xfrm>
            <a:off x="846733" y="6084014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 举报模型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21"/>
          <p:cNvSpPr/>
          <p:nvPr>
            <p:custDataLst>
              <p:tags r:id="rId12"/>
            </p:custDataLst>
          </p:nvPr>
        </p:nvSpPr>
        <p:spPr>
          <a:xfrm>
            <a:off x="846733" y="6383457"/>
            <a:ext cx="7258764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举报原因、举报者、被举报资源、处理状态、处理结果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5" name="Shape 22"/>
          <p:cNvSpPr/>
          <p:nvPr>
            <p:custDataLst>
              <p:tags r:id="rId13"/>
            </p:custDataLst>
          </p:nvPr>
        </p:nvSpPr>
        <p:spPr>
          <a:xfrm>
            <a:off x="697865" y="6852285"/>
            <a:ext cx="12819380" cy="805180"/>
          </a:xfrm>
          <a:prstGeom prst="roundRect">
            <a:avLst>
              <a:gd name="adj" fmla="val 16633"/>
            </a:avLst>
          </a:prstGeom>
          <a:solidFill>
            <a:srgbClr val="CEE6FD"/>
          </a:solidFill>
        </p:spPr>
      </p:sp>
      <p:sp>
        <p:nvSpPr>
          <p:cNvPr id="26" name="Text 23"/>
          <p:cNvSpPr/>
          <p:nvPr>
            <p:custDataLst>
              <p:tags r:id="rId14"/>
            </p:custDataLst>
          </p:nvPr>
        </p:nvSpPr>
        <p:spPr>
          <a:xfrm>
            <a:off x="846733" y="7001034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Notification 通知模型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24"/>
          <p:cNvSpPr/>
          <p:nvPr>
            <p:custDataLst>
              <p:tags r:id="rId15"/>
            </p:custDataLst>
          </p:nvPr>
        </p:nvSpPr>
        <p:spPr>
          <a:xfrm>
            <a:off x="846733" y="7300476"/>
            <a:ext cx="7258764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通知内容、接收者、已读状态、通知类型、创建时间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93790" y="853599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后端核心API接口设计</a:t>
            </a:r>
            <a:endParaRPr lang="en-US" sz="39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2088833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Flask后端提供RESTful风格的API接口,所有接口遵循统一的请求响应规范,支持JSON数据格式交互。接口采用Header传递X-User-Id进行身份验证,部分接口需要特定角色权限。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145512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用户认证接口</a:t>
            </a:r>
            <a:endParaRPr lang="en-US" sz="23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3715941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/auth/register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用户注册,返回用户信息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90" y="4102894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/auth/login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用户登录,验证凭证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3790" y="4618792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资源管理接口</a:t>
            </a:r>
            <a:endParaRPr lang="en-US" sz="23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3790" y="5189220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/resources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上传资源文件及元数据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3790" y="5576173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/resources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获取资源列表(支持搜索/标签/分页)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3790" y="5963126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/resources/&lt;id&gt;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获取资源详情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93790" y="6350079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DELETE /resources/&lt;id&gt;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删除资源(需权限)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93790" y="6737033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/resources/review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审核资源(仅moderator)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564874" y="3145512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互动功能接口</a:t>
            </a:r>
            <a:endParaRPr lang="en-US" sz="23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564874" y="3715941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/comments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发表评论或回复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564874" y="4102894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/comments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获取评论列表(支持树形结构)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564874" y="4489847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/subscriptions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订阅/取消订阅用户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564874" y="4876800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/subscriptions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获取订阅列表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564874" y="5392698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管理与辅助接口</a:t>
            </a:r>
            <a:endParaRPr lang="en-US" sz="23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64874" y="5963126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/reports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提交资源举报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564874" y="6350079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/reports/resolve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处理举报(仅moderator)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564874" y="6737033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/notifications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获取用户通知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564874" y="7123986"/>
            <a:ext cx="6279356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/ai-ask</a:t>
            </a: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AI智能问答助手</a:t>
            </a:r>
            <a:endParaRPr lang="en-US" sz="1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545068"/>
            <a:ext cx="4625816" cy="525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后端工具函数与配置管理</a:t>
            </a:r>
            <a:endParaRPr lang="en-US" sz="33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1647" y="1428274"/>
            <a:ext cx="2523530" cy="315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配置文件 config.py</a:t>
            </a:r>
            <a:endParaRPr lang="en-US" sz="19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1647" y="1886783"/>
            <a:ext cx="6049208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系统核心配置通过Config类统一管理,确保环境一致性和安全性:</a:t>
            </a:r>
            <a:endParaRPr lang="en-US" sz="13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3940" y="2296597"/>
            <a:ext cx="5796915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UPLOAD_FOLDER</a:t>
            </a: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'uploads/' - 资源文件存储目录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3940" y="2674144"/>
            <a:ext cx="5796915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MAX_CONTENT_LENGTH</a:t>
            </a: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50MB - 单次上传文件大小限制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3940" y="3051691"/>
            <a:ext cx="5796915" cy="497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ALLOWED_EXTENSIONS</a:t>
            </a: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{pdf, doc, docx, ppt, pptx} - 允许的文件类型白名单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3940" y="3678198"/>
            <a:ext cx="5796915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AI_SERVICE_URL</a:t>
            </a: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DeepSeek API端点 - 外部AI服务集成地址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1647" y="2296597"/>
            <a:ext cx="22860" cy="1630561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10" name="Text 8"/>
          <p:cNvSpPr/>
          <p:nvPr/>
        </p:nvSpPr>
        <p:spPr>
          <a:xfrm>
            <a:off x="791647" y="4088011"/>
            <a:ext cx="2523530" cy="315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工具函数 utils.py</a:t>
            </a:r>
            <a:endParaRPr lang="en-US" sz="19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1647" y="4546521"/>
            <a:ext cx="6049208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SzPct val="100000"/>
              <a:buNone/>
            </a:pPr>
            <a:r>
              <a:rPr lang="en-US" sz="13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allowed_file()</a:t>
            </a: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验证上传文件扩展名合法性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1647" y="4845487"/>
            <a:ext cx="6049208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SzPct val="100000"/>
              <a:buNone/>
            </a:pPr>
            <a:r>
              <a:rPr lang="en-US" sz="13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call_ai_service()</a:t>
            </a: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调用DeepSeek AI模型进行智能问答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1647" y="5144453"/>
            <a:ext cx="6049208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SzPct val="100000"/>
              <a:buNone/>
            </a:pPr>
            <a:r>
              <a:rPr lang="en-US" sz="13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create_notification()</a:t>
            </a: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创建系统通知记录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8764" y="1428274"/>
            <a:ext cx="2523530" cy="315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文件上传与AI集成流程</a:t>
            </a:r>
            <a:endParaRPr lang="en-US" sz="19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8764" y="1904643"/>
            <a:ext cx="504706" cy="1143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906464" y="2072878"/>
            <a:ext cx="2102882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文件接收</a:t>
            </a:r>
            <a:endParaRPr lang="en-US" sz="16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06464" y="2478643"/>
            <a:ext cx="5939790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前端通过multipart/form-data上传文件</a:t>
            </a:r>
            <a:endParaRPr lang="en-US" sz="13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058" y="3057049"/>
            <a:ext cx="504706" cy="1143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158758" y="3225284"/>
            <a:ext cx="2102882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格式验证</a:t>
            </a:r>
            <a:endParaRPr lang="en-US" sz="16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158758" y="3631049"/>
            <a:ext cx="5687497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调用allowed_file()检查扩展名和大小</a:t>
            </a:r>
            <a:endParaRPr lang="en-US" sz="13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470" y="4209455"/>
            <a:ext cx="504706" cy="1143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1170" y="4377690"/>
            <a:ext cx="2102882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安全存储</a:t>
            </a:r>
            <a:endParaRPr lang="en-US" sz="16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411170" y="4783455"/>
            <a:ext cx="5435084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使用secure_filename()防止路径注入,保存至UPLOAD_FOLDER</a:t>
            </a:r>
            <a:endParaRPr lang="en-US" sz="13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5764" y="5361861"/>
            <a:ext cx="504706" cy="11430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63464" y="5530096"/>
            <a:ext cx="2102882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数据库记录</a:t>
            </a:r>
            <a:endParaRPr lang="en-US" sz="16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663464" y="5935861"/>
            <a:ext cx="5182791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创建Resource记录,状态设为pending等待审核</a:t>
            </a:r>
            <a:endParaRPr lang="en-US" sz="13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470" y="6514267"/>
            <a:ext cx="504706" cy="11430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1170" y="6682502"/>
            <a:ext cx="2102882" cy="262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</a:t>
            </a:r>
            <a:endParaRPr lang="en-US" sz="16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8411170" y="7088267"/>
            <a:ext cx="5435084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用户查询时调用call_ai_service()获取智能解答</a:t>
            </a:r>
            <a:endParaRPr lang="en-US" sz="13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57357" y="212090"/>
            <a:ext cx="3076813" cy="3845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前端主界面设计</a:t>
            </a:r>
            <a:endParaRPr lang="en-US" sz="24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2597" y="721003"/>
            <a:ext cx="13115687" cy="162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MainWindow是Qt桌面客户端的核心窗口,采用现代化扁平设计风格,为用户提供直观高效的资源浏览与管理体验。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界面布局遵循16:9宽屏优化原则,充分利用横向空间展示信息。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757357" y="1238091"/>
            <a:ext cx="6517838" cy="1005245"/>
          </a:xfrm>
          <a:prstGeom prst="roundRect">
            <a:avLst>
              <a:gd name="adj" fmla="val 11019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72597" y="1253331"/>
            <a:ext cx="6487358" cy="369213"/>
          </a:xfrm>
          <a:prstGeom prst="roundRect">
            <a:avLst>
              <a:gd name="adj" fmla="val 25048"/>
            </a:avLst>
          </a:prstGeom>
          <a:solidFill>
            <a:srgbClr val="CEE6FD"/>
          </a:solidFill>
        </p:spPr>
      </p:sp>
      <p:pic>
        <p:nvPicPr>
          <p:cNvPr id="9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3943" y="1345605"/>
            <a:ext cx="184547" cy="184547"/>
          </a:xfrm>
          <a:prstGeom prst="rect">
            <a:avLst/>
          </a:prstGeom>
        </p:spPr>
      </p:pic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895588" y="1702435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智能搜索栏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895588" y="1942703"/>
            <a:ext cx="6241375" cy="162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支持关键词全文检索,实时显示搜索结果数量,可按标题、描述、作者等字段搜索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8"/>
          <p:cNvSpPr/>
          <p:nvPr>
            <p:custDataLst>
              <p:tags r:id="rId8"/>
            </p:custDataLst>
          </p:nvPr>
        </p:nvSpPr>
        <p:spPr>
          <a:xfrm>
            <a:off x="7355086" y="1238091"/>
            <a:ext cx="6517958" cy="1005245"/>
          </a:xfrm>
          <a:prstGeom prst="roundRect">
            <a:avLst>
              <a:gd name="adj" fmla="val 11019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7370326" y="1253331"/>
            <a:ext cx="6487478" cy="369213"/>
          </a:xfrm>
          <a:prstGeom prst="roundRect">
            <a:avLst>
              <a:gd name="adj" fmla="val 25048"/>
            </a:avLst>
          </a:prstGeom>
          <a:solidFill>
            <a:srgbClr val="CEE6FD"/>
          </a:solidFill>
        </p:spPr>
      </p:sp>
      <p:pic>
        <p:nvPicPr>
          <p:cNvPr id="14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1791" y="1345605"/>
            <a:ext cx="184547" cy="184547"/>
          </a:xfrm>
          <a:prstGeom prst="rect">
            <a:avLst/>
          </a:prstGeom>
        </p:spPr>
      </p:pic>
      <p:sp>
        <p:nvSpPr>
          <p:cNvPr id="15" name="Text 10"/>
          <p:cNvSpPr/>
          <p:nvPr>
            <p:custDataLst>
              <p:tags r:id="rId13"/>
            </p:custDataLst>
          </p:nvPr>
        </p:nvSpPr>
        <p:spPr>
          <a:xfrm>
            <a:off x="7493318" y="1702435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标签过滤系统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6" name="Text 11"/>
          <p:cNvSpPr/>
          <p:nvPr>
            <p:custDataLst>
              <p:tags r:id="rId14"/>
            </p:custDataLst>
          </p:nvPr>
        </p:nvSpPr>
        <p:spPr>
          <a:xfrm>
            <a:off x="7493318" y="1942703"/>
            <a:ext cx="6241494" cy="162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动态加载所有可用标签,支持多标签组合筛选,快速定位目标资源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2"/>
          <p:cNvSpPr/>
          <p:nvPr>
            <p:custDataLst>
              <p:tags r:id="rId15"/>
            </p:custDataLst>
          </p:nvPr>
        </p:nvSpPr>
        <p:spPr>
          <a:xfrm>
            <a:off x="757357" y="2323227"/>
            <a:ext cx="6517838" cy="1005245"/>
          </a:xfrm>
          <a:prstGeom prst="roundRect">
            <a:avLst>
              <a:gd name="adj" fmla="val 11019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8" name="Shape 13"/>
          <p:cNvSpPr/>
          <p:nvPr>
            <p:custDataLst>
              <p:tags r:id="rId16"/>
            </p:custDataLst>
          </p:nvPr>
        </p:nvSpPr>
        <p:spPr>
          <a:xfrm>
            <a:off x="772597" y="2338467"/>
            <a:ext cx="6487358" cy="369213"/>
          </a:xfrm>
          <a:prstGeom prst="roundRect">
            <a:avLst>
              <a:gd name="adj" fmla="val 25048"/>
            </a:avLst>
          </a:prstGeom>
          <a:solidFill>
            <a:srgbClr val="CEE6FD"/>
          </a:solidFill>
        </p:spPr>
      </p:sp>
      <p:pic>
        <p:nvPicPr>
          <p:cNvPr id="19" name="Image 3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923943" y="2430740"/>
            <a:ext cx="184547" cy="184547"/>
          </a:xfrm>
          <a:prstGeom prst="rect">
            <a:avLst/>
          </a:prstGeom>
        </p:spPr>
      </p:pic>
      <p:sp>
        <p:nvSpPr>
          <p:cNvPr id="20" name="Text 14"/>
          <p:cNvSpPr/>
          <p:nvPr>
            <p:custDataLst>
              <p:tags r:id="rId20"/>
            </p:custDataLst>
          </p:nvPr>
        </p:nvSpPr>
        <p:spPr>
          <a:xfrm>
            <a:off x="895588" y="2787571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推荐资源列表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1" name="Text 15"/>
          <p:cNvSpPr/>
          <p:nvPr>
            <p:custDataLst>
              <p:tags r:id="rId21"/>
            </p:custDataLst>
          </p:nvPr>
        </p:nvSpPr>
        <p:spPr>
          <a:xfrm>
            <a:off x="895588" y="3027839"/>
            <a:ext cx="6241375" cy="162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卡片式布局展示资源缩略信息,包含标题、作者、创建时间、标签、点赞数等核心信息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16"/>
          <p:cNvSpPr/>
          <p:nvPr>
            <p:custDataLst>
              <p:tags r:id="rId22"/>
            </p:custDataLst>
          </p:nvPr>
        </p:nvSpPr>
        <p:spPr>
          <a:xfrm>
            <a:off x="7355086" y="2323227"/>
            <a:ext cx="6517958" cy="1005245"/>
          </a:xfrm>
          <a:prstGeom prst="roundRect">
            <a:avLst>
              <a:gd name="adj" fmla="val 11019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3" name="Shape 17"/>
          <p:cNvSpPr/>
          <p:nvPr>
            <p:custDataLst>
              <p:tags r:id="rId23"/>
            </p:custDataLst>
          </p:nvPr>
        </p:nvSpPr>
        <p:spPr>
          <a:xfrm>
            <a:off x="7370326" y="2338467"/>
            <a:ext cx="6487478" cy="369213"/>
          </a:xfrm>
          <a:prstGeom prst="roundRect">
            <a:avLst>
              <a:gd name="adj" fmla="val 25048"/>
            </a:avLst>
          </a:prstGeom>
          <a:solidFill>
            <a:srgbClr val="CEE6FD"/>
          </a:solidFill>
        </p:spPr>
      </p:sp>
      <p:pic>
        <p:nvPicPr>
          <p:cNvPr id="24" name="Image 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521791" y="2430740"/>
            <a:ext cx="184547" cy="184547"/>
          </a:xfrm>
          <a:prstGeom prst="rect">
            <a:avLst/>
          </a:prstGeom>
        </p:spPr>
      </p:pic>
      <p:sp>
        <p:nvSpPr>
          <p:cNvPr id="25" name="Text 18"/>
          <p:cNvSpPr/>
          <p:nvPr>
            <p:custDataLst>
              <p:tags r:id="rId27"/>
            </p:custDataLst>
          </p:nvPr>
        </p:nvSpPr>
        <p:spPr>
          <a:xfrm>
            <a:off x="7493318" y="2787571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分页导航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6" name="Text 19"/>
          <p:cNvSpPr/>
          <p:nvPr>
            <p:custDataLst>
              <p:tags r:id="rId28"/>
            </p:custDataLst>
          </p:nvPr>
        </p:nvSpPr>
        <p:spPr>
          <a:xfrm>
            <a:off x="7493318" y="3027839"/>
            <a:ext cx="6241494" cy="162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每页显示10条资源,支持快速跳转至指定页码,优化大数据量加载性能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1723192" y="3491389"/>
            <a:ext cx="492204" cy="738426"/>
          </a:xfrm>
          <a:prstGeom prst="roundRect">
            <a:avLst>
              <a:gd name="adj" fmla="val 360076"/>
            </a:avLst>
          </a:prstGeom>
          <a:solidFill>
            <a:srgbClr val="CEE6FD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877020" y="3768328"/>
            <a:ext cx="184547" cy="1845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295287" y="3614380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上传资源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1723192" y="4309705"/>
            <a:ext cx="492204" cy="738426"/>
          </a:xfrm>
          <a:prstGeom prst="roundRect">
            <a:avLst>
              <a:gd name="adj" fmla="val 360076"/>
            </a:avLst>
          </a:prstGeom>
          <a:solidFill>
            <a:srgbClr val="CEE6FD"/>
          </a:solidFill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877020" y="4586645"/>
            <a:ext cx="184547" cy="18454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295287" y="4432697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我的订阅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1723192" y="5128022"/>
            <a:ext cx="492204" cy="738426"/>
          </a:xfrm>
          <a:prstGeom prst="roundRect">
            <a:avLst>
              <a:gd name="adj" fmla="val 360076"/>
            </a:avLst>
          </a:prstGeom>
          <a:solidFill>
            <a:srgbClr val="CEE6FD"/>
          </a:solidFill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877020" y="5404961"/>
            <a:ext cx="184547" cy="184547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295287" y="5251013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消息通知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1723192" y="5946338"/>
            <a:ext cx="492204" cy="738426"/>
          </a:xfrm>
          <a:prstGeom prst="roundRect">
            <a:avLst>
              <a:gd name="adj" fmla="val 360076"/>
            </a:avLst>
          </a:prstGeom>
          <a:solidFill>
            <a:srgbClr val="CEE6FD"/>
          </a:solidFill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877020" y="6223278"/>
            <a:ext cx="184547" cy="184547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2295287" y="6069330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我的资源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1723192" y="6764655"/>
            <a:ext cx="492204" cy="738426"/>
          </a:xfrm>
          <a:prstGeom prst="roundRect">
            <a:avLst>
              <a:gd name="adj" fmla="val 360076"/>
            </a:avLst>
          </a:prstGeom>
          <a:solidFill>
            <a:srgbClr val="CEE6FD"/>
          </a:solidFill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877020" y="7041594"/>
            <a:ext cx="184547" cy="184547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2295287" y="6887647"/>
            <a:ext cx="1538407" cy="1922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审核模式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712210" y="3450590"/>
            <a:ext cx="7205980" cy="4645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29866"/>
            <a:ext cx="3721298" cy="465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资源详情页与交互设计</a:t>
            </a:r>
            <a:endParaRPr lang="en-US" sz="29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50" y="1462405"/>
            <a:ext cx="12498705" cy="416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ResourceDetailWindow提供资源的完整信息展示和丰富的交互功能,采用左右分栏布局充分利用宽屏空间,左侧聚焦资源内容,右侧集中用户互动功能。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55865" y="2118757"/>
            <a:ext cx="2232779" cy="278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资源信息与操作区</a:t>
            </a:r>
            <a:endParaRPr lang="en-US" sz="17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55865" y="2509282"/>
            <a:ext cx="3992523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基本信息展示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:资源标题、上传者、创建时间、文件大小、下载次数、审核状态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2155865" y="2965053"/>
            <a:ext cx="3992523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标签云展示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:关联标签可点击快速跳转至标签筛选页面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2155865" y="3212465"/>
            <a:ext cx="3992523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PDF在线预览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:集成Qt PDF模块,支持文档在线浏览,无需下载即可快速查看内容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2155865" y="3668236"/>
            <a:ext cx="3992523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下载按钮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:一键下载资源文件至本地指定目录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155865" y="3915648"/>
            <a:ext cx="3992523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管理操作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:资源所有者或审核员可删除资源,审核员可审核通过/拒绝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617188" y="2120027"/>
            <a:ext cx="2232779" cy="278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评论与AI互动区</a:t>
            </a:r>
            <a:endParaRPr lang="en-US" sz="17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17188" y="2510552"/>
            <a:ext cx="3200638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树形评论展示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:支持多级回复嵌套,清晰展现讨论层级关系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617188" y="2966323"/>
            <a:ext cx="3200638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实时评论发布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:输入框支持富文本,可@其他用户或回复特定评论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17188" y="3422094"/>
            <a:ext cx="3200638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AI智能问答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:针对资源内容提问,DeepSeek模型提供专业解答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617188" y="3877866"/>
            <a:ext cx="3200638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1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举报功能</a:t>
            </a: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:发现违规内容可提交举报,审核员介入处理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3"/>
          <p:cNvSpPr/>
          <p:nvPr>
            <p:custDataLst>
              <p:tags r:id="rId1"/>
            </p:custDataLst>
          </p:nvPr>
        </p:nvSpPr>
        <p:spPr>
          <a:xfrm>
            <a:off x="961192" y="4494371"/>
            <a:ext cx="15240" cy="2905244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17" name="Shape 14"/>
          <p:cNvSpPr/>
          <p:nvPr>
            <p:custDataLst>
              <p:tags r:id="rId2"/>
            </p:custDataLst>
          </p:nvPr>
        </p:nvSpPr>
        <p:spPr>
          <a:xfrm>
            <a:off x="1113413" y="4654153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18" name="Shape 15"/>
          <p:cNvSpPr/>
          <p:nvPr>
            <p:custDataLst>
              <p:tags r:id="rId3"/>
            </p:custDataLst>
          </p:nvPr>
        </p:nvSpPr>
        <p:spPr>
          <a:xfrm>
            <a:off x="793730" y="4494371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19" name="Text 16"/>
          <p:cNvSpPr/>
          <p:nvPr>
            <p:custDataLst>
              <p:tags r:id="rId4"/>
            </p:custDataLst>
          </p:nvPr>
        </p:nvSpPr>
        <p:spPr>
          <a:xfrm>
            <a:off x="849511" y="4522232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1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5"/>
            </p:custDataLst>
          </p:nvPr>
        </p:nvSpPr>
        <p:spPr>
          <a:xfrm>
            <a:off x="1705451" y="4545449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浏览资源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6"/>
            </p:custDataLst>
          </p:nvPr>
        </p:nvSpPr>
        <p:spPr>
          <a:xfrm>
            <a:off x="1705451" y="4844891"/>
            <a:ext cx="6644759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查看详情与预览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2" name="Shape 19"/>
          <p:cNvSpPr/>
          <p:nvPr>
            <p:custDataLst>
              <p:tags r:id="rId7"/>
            </p:custDataLst>
          </p:nvPr>
        </p:nvSpPr>
        <p:spPr>
          <a:xfrm>
            <a:off x="1113413" y="5436275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23" name="Shape 20"/>
          <p:cNvSpPr/>
          <p:nvPr>
            <p:custDataLst>
              <p:tags r:id="rId8"/>
            </p:custDataLst>
          </p:nvPr>
        </p:nvSpPr>
        <p:spPr>
          <a:xfrm>
            <a:off x="793730" y="5276493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24" name="Text 21"/>
          <p:cNvSpPr/>
          <p:nvPr>
            <p:custDataLst>
              <p:tags r:id="rId9"/>
            </p:custDataLst>
          </p:nvPr>
        </p:nvSpPr>
        <p:spPr>
          <a:xfrm>
            <a:off x="849511" y="5304353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2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5" name="Text 22"/>
          <p:cNvSpPr/>
          <p:nvPr>
            <p:custDataLst>
              <p:tags r:id="rId10"/>
            </p:custDataLst>
          </p:nvPr>
        </p:nvSpPr>
        <p:spPr>
          <a:xfrm>
            <a:off x="1705451" y="5327571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评论互动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6" name="Text 23"/>
          <p:cNvSpPr/>
          <p:nvPr>
            <p:custDataLst>
              <p:tags r:id="rId11"/>
            </p:custDataLst>
          </p:nvPr>
        </p:nvSpPr>
        <p:spPr>
          <a:xfrm>
            <a:off x="1705451" y="5627013"/>
            <a:ext cx="6644759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发表观点与讨论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7" name="Shape 24"/>
          <p:cNvSpPr/>
          <p:nvPr>
            <p:custDataLst>
              <p:tags r:id="rId12"/>
            </p:custDataLst>
          </p:nvPr>
        </p:nvSpPr>
        <p:spPr>
          <a:xfrm>
            <a:off x="1113413" y="6218396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28" name="Shape 25"/>
          <p:cNvSpPr/>
          <p:nvPr>
            <p:custDataLst>
              <p:tags r:id="rId13"/>
            </p:custDataLst>
          </p:nvPr>
        </p:nvSpPr>
        <p:spPr>
          <a:xfrm>
            <a:off x="793730" y="6058614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29" name="Text 26"/>
          <p:cNvSpPr/>
          <p:nvPr>
            <p:custDataLst>
              <p:tags r:id="rId14"/>
            </p:custDataLst>
          </p:nvPr>
        </p:nvSpPr>
        <p:spPr>
          <a:xfrm>
            <a:off x="849511" y="6086475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3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0" name="Text 27"/>
          <p:cNvSpPr/>
          <p:nvPr>
            <p:custDataLst>
              <p:tags r:id="rId15"/>
            </p:custDataLst>
          </p:nvPr>
        </p:nvSpPr>
        <p:spPr>
          <a:xfrm>
            <a:off x="1705451" y="6109692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AI辅助学习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 28"/>
          <p:cNvSpPr/>
          <p:nvPr>
            <p:custDataLst>
              <p:tags r:id="rId16"/>
            </p:custDataLst>
          </p:nvPr>
        </p:nvSpPr>
        <p:spPr>
          <a:xfrm>
            <a:off x="1705451" y="6409134"/>
            <a:ext cx="6644759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智能问答深度理解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2" name="Shape 29"/>
          <p:cNvSpPr/>
          <p:nvPr>
            <p:custDataLst>
              <p:tags r:id="rId17"/>
            </p:custDataLst>
          </p:nvPr>
        </p:nvSpPr>
        <p:spPr>
          <a:xfrm>
            <a:off x="1113413" y="7000518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33" name="Shape 30"/>
          <p:cNvSpPr/>
          <p:nvPr>
            <p:custDataLst>
              <p:tags r:id="rId18"/>
            </p:custDataLst>
          </p:nvPr>
        </p:nvSpPr>
        <p:spPr>
          <a:xfrm>
            <a:off x="793730" y="6840736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34" name="Text 31"/>
          <p:cNvSpPr/>
          <p:nvPr>
            <p:custDataLst>
              <p:tags r:id="rId19"/>
            </p:custDataLst>
          </p:nvPr>
        </p:nvSpPr>
        <p:spPr>
          <a:xfrm>
            <a:off x="849511" y="6868597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4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5" name="Text 32"/>
          <p:cNvSpPr/>
          <p:nvPr>
            <p:custDataLst>
              <p:tags r:id="rId20"/>
            </p:custDataLst>
          </p:nvPr>
        </p:nvSpPr>
        <p:spPr>
          <a:xfrm>
            <a:off x="1705451" y="6891814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下载使用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6" name="Text 33"/>
          <p:cNvSpPr/>
          <p:nvPr>
            <p:custDataLst>
              <p:tags r:id="rId21"/>
            </p:custDataLst>
          </p:nvPr>
        </p:nvSpPr>
        <p:spPr>
          <a:xfrm>
            <a:off x="1705451" y="7191256"/>
            <a:ext cx="6644759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本地保存学习资料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870036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搜索与管理功能窗口</a:t>
            </a:r>
            <a:endParaRPr lang="en-US" sz="39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89" y="1609176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系统提供多个专用功能窗口,满足不同场景下的用户需求,所有窗口保持统一的视觉风格和交互逻辑,确保用户体验的一致性。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5332333"/>
            <a:ext cx="2522339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SearchResultWindow</a:t>
            </a:r>
            <a:endParaRPr lang="en-US" sz="1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5753622"/>
            <a:ext cx="3074670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搜索结果专用展示页面,支持按相关度、时间、下载量等多维度排序,分页加载保证流畅体验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37184" y="5334792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ReportManagement</a:t>
            </a:r>
            <a:endParaRPr lang="en-US" sz="1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116467" y="5753621"/>
            <a:ext cx="3074670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审核员专用举报管理界面,表格形式展示所有待处理举报,可批量处理或单独审查,支持搜索和筛选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459861" y="5337132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NotificationWindow</a:t>
            </a:r>
            <a:endParaRPr lang="en-US" sz="1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439144" y="5753622"/>
            <a:ext cx="3074670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系统通知中心,显示未读消息计数徽章,列表展示所有通知记录,点击可标记为已读或跳转至相关页面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0761821" y="5334792"/>
            <a:ext cx="2538889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MyResourcesWindow</a:t>
            </a:r>
            <a:endParaRPr lang="en-US" sz="1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0761821" y="5753621"/>
            <a:ext cx="3074789" cy="12701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个人资源管理中心,展示用户上传的所有资源及审核状态(pending/approved/rejected),支持编辑和删除</a:t>
            </a:r>
            <a:endParaRPr lang="en-US" sz="1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43" y="2082381"/>
            <a:ext cx="3591401" cy="309182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736" y="2082380"/>
            <a:ext cx="3591401" cy="309183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530" y="2082380"/>
            <a:ext cx="3591401" cy="309183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213" y="2082381"/>
            <a:ext cx="3591401" cy="3091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71763" y="567849"/>
            <a:ext cx="3939540" cy="4476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用户认证与角色权限体系</a:t>
            </a:r>
            <a:endParaRPr lang="en-US" sz="28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1763" y="1224875"/>
            <a:ext cx="1310211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系统采用基于角色的访问控制(RBAC)模型,确保不同用户按权限范围访问功能。认证机制通过HTTP Header传递用户标识,后端装饰器实现权限拦截,前端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根据角色动态显示功能入口。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4143" y="1746885"/>
            <a:ext cx="143232" cy="179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01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4143" y="1975009"/>
            <a:ext cx="649736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9" name="Text 6"/>
          <p:cNvSpPr/>
          <p:nvPr/>
        </p:nvSpPr>
        <p:spPr>
          <a:xfrm>
            <a:off x="764143" y="2077045"/>
            <a:ext cx="1790938" cy="2238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用户注册/登录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4143" y="2365296"/>
            <a:ext cx="6497360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前端收集用户名密码,后端验证并存储(密码加密),返回用户ID和角色信息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68897" y="1746885"/>
            <a:ext cx="143232" cy="179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02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68897" y="1975009"/>
            <a:ext cx="649736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13" name="Text 10"/>
          <p:cNvSpPr/>
          <p:nvPr/>
        </p:nvSpPr>
        <p:spPr>
          <a:xfrm>
            <a:off x="7368897" y="2077045"/>
            <a:ext cx="1790938" cy="2238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Header携带凭证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68897" y="2365296"/>
            <a:ext cx="6497360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客户端每次请求在Header中添加X-User-Id字段标识当前用户身份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4143" y="2780586"/>
            <a:ext cx="143232" cy="179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03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64143" y="3008709"/>
            <a:ext cx="649736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17" name="Text 14"/>
          <p:cNvSpPr/>
          <p:nvPr/>
        </p:nvSpPr>
        <p:spPr>
          <a:xfrm>
            <a:off x="764143" y="3110746"/>
            <a:ext cx="1790938" cy="2238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装饰器权限校验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4143" y="3398996"/>
            <a:ext cx="6497360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后端使用@require_auth验证用户身份,@require_role检查角色权限,不符合条件返回401/403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68897" y="2780586"/>
            <a:ext cx="143232" cy="179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04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368897" y="3008709"/>
            <a:ext cx="649736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21" name="Text 18"/>
          <p:cNvSpPr/>
          <p:nvPr/>
        </p:nvSpPr>
        <p:spPr>
          <a:xfrm>
            <a:off x="7368897" y="3110746"/>
            <a:ext cx="1790938" cy="2238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前端动态渲染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368897" y="3398996"/>
            <a:ext cx="6497360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根据用户角色显示或隐藏特定功能按钮,如审核员可见"审核模式"入口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4143" y="3867983"/>
            <a:ext cx="2149078" cy="268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角色权限对比</a:t>
            </a:r>
            <a:endParaRPr lang="en-US" sz="16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64143" y="4297680"/>
            <a:ext cx="13102114" cy="2771775"/>
          </a:xfrm>
          <a:prstGeom prst="roundRect">
            <a:avLst>
              <a:gd name="adj" fmla="val 46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1763" y="4305300"/>
            <a:ext cx="13086874" cy="34456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914995" y="4377333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功能模块</a:t>
            </a:r>
            <a:endParaRPr lang="en-US" sz="110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190524" y="4377333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Student</a:t>
            </a:r>
            <a:endParaRPr lang="en-US" sz="110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462242" y="4377333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Teacher</a:t>
            </a:r>
            <a:endParaRPr lang="en-US" sz="110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733961" y="4377333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Moderator</a:t>
            </a:r>
            <a:endParaRPr lang="en-US" sz="110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71763" y="4649867"/>
            <a:ext cx="13086874" cy="34456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914995" y="4721900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上传资源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190524" y="4721900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462242" y="4721900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733961" y="4721900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71763" y="4994434"/>
            <a:ext cx="13086874" cy="34456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914995" y="5066467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下载资源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190524" y="5066467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462242" y="5066467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733961" y="5066467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71763" y="5339001"/>
            <a:ext cx="13086874" cy="34456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41" name="Text 38"/>
          <p:cNvSpPr/>
          <p:nvPr/>
        </p:nvSpPr>
        <p:spPr>
          <a:xfrm>
            <a:off x="914995" y="5411033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评论互动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190524" y="5411033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462242" y="5411033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733961" y="5411033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771763" y="5683568"/>
            <a:ext cx="13086874" cy="34456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914995" y="5755600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举报资源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190524" y="5755600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462242" y="5755600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10733961" y="5755600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771763" y="6028134"/>
            <a:ext cx="13086874" cy="34456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51" name="Text 48"/>
          <p:cNvSpPr/>
          <p:nvPr/>
        </p:nvSpPr>
        <p:spPr>
          <a:xfrm>
            <a:off x="914995" y="6100167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审核资源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190524" y="6100167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✗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7462242" y="6100167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✗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10733961" y="6100167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771763" y="6372701"/>
            <a:ext cx="13086874" cy="34456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6" name="Text 53"/>
          <p:cNvSpPr/>
          <p:nvPr/>
        </p:nvSpPr>
        <p:spPr>
          <a:xfrm>
            <a:off x="914995" y="6444734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处理举报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4190524" y="6444734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✗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7462242" y="6444734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✗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0733961" y="6444734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771763" y="6717268"/>
            <a:ext cx="13086874" cy="34456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61" name="Text 58"/>
          <p:cNvSpPr/>
          <p:nvPr/>
        </p:nvSpPr>
        <p:spPr>
          <a:xfrm>
            <a:off x="914995" y="6789301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删除他人资源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4190524" y="6789301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✗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462242" y="6789301"/>
            <a:ext cx="297763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✗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10733961" y="6789301"/>
            <a:ext cx="2981444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✓</a:t>
            </a:r>
            <a:endParaRPr lang="en-US" sz="11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764143" y="7190303"/>
            <a:ext cx="13102114" cy="511850"/>
          </a:xfrm>
          <a:prstGeom prst="roundRect">
            <a:avLst>
              <a:gd name="adj" fmla="val 25193"/>
            </a:avLst>
          </a:prstGeom>
          <a:solidFill>
            <a:srgbClr val="B5DAFC"/>
          </a:solidFill>
        </p:spPr>
      </p:sp>
      <p:sp>
        <p:nvSpPr>
          <p:cNvPr id="67" name="Text 63"/>
          <p:cNvSpPr/>
          <p:nvPr/>
        </p:nvSpPr>
        <p:spPr>
          <a:xfrm>
            <a:off x="1067753" y="7333417"/>
            <a:ext cx="12493347" cy="200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安全最佳实践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:所有密码使用Werkzeug的generate_password_hash加密存储,前后端双重校验用户输入,防止SQL注入和XSS攻击,敏感操作记录审计日志。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817682"/>
            <a:ext cx="3721298" cy="465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资源管理全流程</a:t>
            </a:r>
            <a:endParaRPr lang="en-US" sz="29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1410" y="1539161"/>
            <a:ext cx="13042821" cy="416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享阅平台的资源管理采用严格的审核机制,确保平台内容质量。从用户上传资源开始,每个文件都会经历完整的生命周期管理。上传后的资源首先进入待审核状态(Pending),由版主进行人工审核,检查内容合规性、格式正确性和学术价值。审核通过后资源状态变更为已批准(Approved),用户可以进行下载和在线预览。整个流程通过数据库状态字段和后端接口协同完成,保证资源的可追溯性和安全性。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07580" y="2330291"/>
            <a:ext cx="15240" cy="50444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7" name="Shape 5"/>
          <p:cNvSpPr/>
          <p:nvPr/>
        </p:nvSpPr>
        <p:spPr>
          <a:xfrm>
            <a:off x="6716494" y="2490073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8" name="Shape 6"/>
          <p:cNvSpPr/>
          <p:nvPr/>
        </p:nvSpPr>
        <p:spPr>
          <a:xfrm>
            <a:off x="7147739" y="2330291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9" name="Text 7"/>
          <p:cNvSpPr/>
          <p:nvPr/>
        </p:nvSpPr>
        <p:spPr>
          <a:xfrm>
            <a:off x="7203519" y="2358152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1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10351" y="2381369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上传资源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2680811"/>
            <a:ext cx="5777151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用户选择文件,填写标题、描述、标签等元数据信息,调用/api/resources/upload接口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3014663"/>
            <a:ext cx="5777151" cy="848201"/>
          </a:xfrm>
          <a:prstGeom prst="roundRect">
            <a:avLst>
              <a:gd name="adj" fmla="val 15795"/>
            </a:avLst>
          </a:prstGeom>
          <a:solidFill>
            <a:srgbClr val="F2F2F2"/>
          </a:solidFill>
        </p:spPr>
      </p:sp>
      <p:sp>
        <p:nvSpPr>
          <p:cNvPr id="13" name="Shape 11"/>
          <p:cNvSpPr/>
          <p:nvPr/>
        </p:nvSpPr>
        <p:spPr>
          <a:xfrm>
            <a:off x="786408" y="3014663"/>
            <a:ext cx="5791914" cy="848201"/>
          </a:xfrm>
          <a:prstGeom prst="roundRect">
            <a:avLst>
              <a:gd name="adj" fmla="val 2632"/>
            </a:avLst>
          </a:prstGeom>
          <a:solidFill>
            <a:srgbClr val="F2F2F2"/>
          </a:solidFill>
        </p:spPr>
      </p:sp>
      <p:sp>
        <p:nvSpPr>
          <p:cNvPr id="14" name="Text 12"/>
          <p:cNvSpPr/>
          <p:nvPr/>
        </p:nvSpPr>
        <p:spPr>
          <a:xfrm>
            <a:off x="935236" y="3126224"/>
            <a:ext cx="5494258" cy="6250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POST /api/resources/upload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Content-Type: multipart/form-data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X-User-Id: {user_id}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67421" y="3308628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16" name="Shape 14"/>
          <p:cNvSpPr/>
          <p:nvPr/>
        </p:nvSpPr>
        <p:spPr>
          <a:xfrm>
            <a:off x="7147739" y="3148846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17" name="Text 15"/>
          <p:cNvSpPr/>
          <p:nvPr/>
        </p:nvSpPr>
        <p:spPr>
          <a:xfrm>
            <a:off x="7203519" y="3176707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2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59460" y="3199924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待审核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59460" y="3499366"/>
            <a:ext cx="5777151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资源状态设为Pending,存储在服务器指定目录,数据库记录相关信息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59460" y="3833217"/>
            <a:ext cx="5777151" cy="848201"/>
          </a:xfrm>
          <a:prstGeom prst="roundRect">
            <a:avLst>
              <a:gd name="adj" fmla="val 15795"/>
            </a:avLst>
          </a:prstGeom>
          <a:solidFill>
            <a:srgbClr val="F2F2F2"/>
          </a:solidFill>
        </p:spPr>
      </p:sp>
      <p:sp>
        <p:nvSpPr>
          <p:cNvPr id="21" name="Shape 19"/>
          <p:cNvSpPr/>
          <p:nvPr/>
        </p:nvSpPr>
        <p:spPr>
          <a:xfrm>
            <a:off x="8052078" y="3833217"/>
            <a:ext cx="5791914" cy="848201"/>
          </a:xfrm>
          <a:prstGeom prst="roundRect">
            <a:avLst>
              <a:gd name="adj" fmla="val 2632"/>
            </a:avLst>
          </a:prstGeom>
          <a:solidFill>
            <a:srgbClr val="F2F2F2"/>
          </a:solidFill>
        </p:spPr>
      </p:sp>
      <p:sp>
        <p:nvSpPr>
          <p:cNvPr id="22" name="Text 20"/>
          <p:cNvSpPr/>
          <p:nvPr/>
        </p:nvSpPr>
        <p:spPr>
          <a:xfrm>
            <a:off x="8200906" y="3944779"/>
            <a:ext cx="5494258" cy="6250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status: "pending"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uploaded_at: timestamp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file_path: /uploads/...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16494" y="4245888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24" name="Shape 22"/>
          <p:cNvSpPr/>
          <p:nvPr/>
        </p:nvSpPr>
        <p:spPr>
          <a:xfrm>
            <a:off x="7147739" y="4086106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25" name="Text 23"/>
          <p:cNvSpPr/>
          <p:nvPr/>
        </p:nvSpPr>
        <p:spPr>
          <a:xfrm>
            <a:off x="7203519" y="4113967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3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10351" y="4137184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版主审核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3790" y="4436626"/>
            <a:ext cx="5777151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版主登录管理后台,查看待审核列表,可预览文件内容,决定批准或拒绝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3790" y="4770477"/>
            <a:ext cx="5777151" cy="848201"/>
          </a:xfrm>
          <a:prstGeom prst="roundRect">
            <a:avLst>
              <a:gd name="adj" fmla="val 15795"/>
            </a:avLst>
          </a:prstGeom>
          <a:solidFill>
            <a:srgbClr val="F2F2F2"/>
          </a:solidFill>
        </p:spPr>
      </p:sp>
      <p:sp>
        <p:nvSpPr>
          <p:cNvPr id="29" name="Shape 27"/>
          <p:cNvSpPr/>
          <p:nvPr/>
        </p:nvSpPr>
        <p:spPr>
          <a:xfrm>
            <a:off x="786408" y="4770477"/>
            <a:ext cx="5791914" cy="848201"/>
          </a:xfrm>
          <a:prstGeom prst="roundRect">
            <a:avLst>
              <a:gd name="adj" fmla="val 2632"/>
            </a:avLst>
          </a:prstGeom>
          <a:solidFill>
            <a:srgbClr val="F2F2F2"/>
          </a:solidFill>
        </p:spPr>
      </p:sp>
      <p:sp>
        <p:nvSpPr>
          <p:cNvPr id="30" name="Text 28"/>
          <p:cNvSpPr/>
          <p:nvPr/>
        </p:nvSpPr>
        <p:spPr>
          <a:xfrm>
            <a:off x="935236" y="4882039"/>
            <a:ext cx="5494258" cy="6250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GET /api/admin/pending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PUT /api/admin/review/{id}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{action: "approve|reject"}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67421" y="5123855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32" name="Shape 30"/>
          <p:cNvSpPr/>
          <p:nvPr/>
        </p:nvSpPr>
        <p:spPr>
          <a:xfrm>
            <a:off x="7147739" y="4964073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33" name="Text 31"/>
          <p:cNvSpPr/>
          <p:nvPr/>
        </p:nvSpPr>
        <p:spPr>
          <a:xfrm>
            <a:off x="7203519" y="4991933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4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59460" y="5015151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已批准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059460" y="5314593"/>
            <a:ext cx="5777151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审核通过后状态变更为Approved,资源对所有用户可见可下载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059460" y="5648444"/>
            <a:ext cx="5777151" cy="848201"/>
          </a:xfrm>
          <a:prstGeom prst="roundRect">
            <a:avLst>
              <a:gd name="adj" fmla="val 15795"/>
            </a:avLst>
          </a:prstGeom>
          <a:solidFill>
            <a:srgbClr val="F2F2F2"/>
          </a:solidFill>
        </p:spPr>
      </p:sp>
      <p:sp>
        <p:nvSpPr>
          <p:cNvPr id="37" name="Shape 35"/>
          <p:cNvSpPr/>
          <p:nvPr/>
        </p:nvSpPr>
        <p:spPr>
          <a:xfrm>
            <a:off x="8052078" y="5648444"/>
            <a:ext cx="5791914" cy="848201"/>
          </a:xfrm>
          <a:prstGeom prst="roundRect">
            <a:avLst>
              <a:gd name="adj" fmla="val 2632"/>
            </a:avLst>
          </a:prstGeom>
          <a:solidFill>
            <a:srgbClr val="F2F2F2"/>
          </a:solidFill>
        </p:spPr>
      </p:sp>
      <p:sp>
        <p:nvSpPr>
          <p:cNvPr id="38" name="Text 36"/>
          <p:cNvSpPr/>
          <p:nvPr/>
        </p:nvSpPr>
        <p:spPr>
          <a:xfrm>
            <a:off x="8200906" y="5760006"/>
            <a:ext cx="5494258" cy="6250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status: "approved"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approved_at: timestamp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approved_by: moderator_id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716494" y="6001822"/>
            <a:ext cx="446484" cy="15240"/>
          </a:xfrm>
          <a:prstGeom prst="roundRect">
            <a:avLst>
              <a:gd name="adj" fmla="val 879072"/>
            </a:avLst>
          </a:prstGeom>
          <a:solidFill>
            <a:srgbClr val="B4CCE3"/>
          </a:solidFill>
        </p:spPr>
      </p:sp>
      <p:sp>
        <p:nvSpPr>
          <p:cNvPr id="40" name="Shape 38"/>
          <p:cNvSpPr/>
          <p:nvPr/>
        </p:nvSpPr>
        <p:spPr>
          <a:xfrm>
            <a:off x="7147739" y="5842040"/>
            <a:ext cx="334923" cy="334923"/>
          </a:xfrm>
          <a:prstGeom prst="roundRect">
            <a:avLst>
              <a:gd name="adj" fmla="val 40000"/>
            </a:avLst>
          </a:prstGeom>
          <a:solidFill>
            <a:srgbClr val="CEE6FD"/>
          </a:solidFill>
        </p:spPr>
      </p:sp>
      <p:sp>
        <p:nvSpPr>
          <p:cNvPr id="41" name="Text 39"/>
          <p:cNvSpPr/>
          <p:nvPr/>
        </p:nvSpPr>
        <p:spPr>
          <a:xfrm>
            <a:off x="7203519" y="5869900"/>
            <a:ext cx="223242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5</a:t>
            </a:r>
            <a:endParaRPr lang="en-US" sz="1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10351" y="5893118"/>
            <a:ext cx="1860590" cy="2325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下载/预览</a:t>
            </a:r>
            <a:endParaRPr lang="en-US" sz="14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93790" y="6192560"/>
            <a:ext cx="5777151" cy="208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用户通过资源详情页下载文件或在线预览PDF,系统记录下载次数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93790" y="6526411"/>
            <a:ext cx="5777151" cy="848201"/>
          </a:xfrm>
          <a:prstGeom prst="roundRect">
            <a:avLst>
              <a:gd name="adj" fmla="val 15795"/>
            </a:avLst>
          </a:prstGeom>
          <a:solidFill>
            <a:srgbClr val="F2F2F2"/>
          </a:solidFill>
        </p:spPr>
      </p:sp>
      <p:sp>
        <p:nvSpPr>
          <p:cNvPr id="45" name="Shape 43"/>
          <p:cNvSpPr/>
          <p:nvPr/>
        </p:nvSpPr>
        <p:spPr>
          <a:xfrm>
            <a:off x="786408" y="6526411"/>
            <a:ext cx="5791914" cy="848201"/>
          </a:xfrm>
          <a:prstGeom prst="roundRect">
            <a:avLst>
              <a:gd name="adj" fmla="val 2632"/>
            </a:avLst>
          </a:prstGeom>
          <a:solidFill>
            <a:srgbClr val="F2F2F2"/>
          </a:solidFill>
        </p:spPr>
      </p:sp>
      <p:sp>
        <p:nvSpPr>
          <p:cNvPr id="46" name="Text 44"/>
          <p:cNvSpPr/>
          <p:nvPr/>
        </p:nvSpPr>
        <p:spPr>
          <a:xfrm>
            <a:off x="935236" y="6637973"/>
            <a:ext cx="5494258" cy="6250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GET /api/resources/{id}/download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GET /api/resources/{id}/preview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downloads_count++</a:t>
            </a:r>
            <a:endParaRPr lang="en-US" sz="1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11969" y="1050449"/>
            <a:ext cx="3173254" cy="3965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社交互动与通知系统</a:t>
            </a:r>
            <a:endParaRPr lang="en-US" sz="24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1969" y="1669098"/>
            <a:ext cx="1903928" cy="237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评论与标签功能</a:t>
            </a:r>
            <a:endParaRPr lang="en-US" sz="14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1969" y="1995805"/>
            <a:ext cx="6435090" cy="517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享阅平台支持多层级嵌套评论,用户可以针对资源发表评论,也可以回复其他用户的评论,形成树形讨论结构。每条评论包含内容、发布时间、作者信息和父评论ID。标签订阅功能允许用户关注感兴趣的学科领域,系统会优先推荐相关资源。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1969" y="2593261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嵌套评论树: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支持无限层级回复,parent_id字段实现树形结构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1969" y="2796858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评论点赞: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用户可对有价值的评论点赞,提升可见度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1969" y="3000454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标签订阅: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关注特定标签,接收相关资源更新通知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1969" y="3204051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热门讨论: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根据评论数和互动量展示热门话题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08741" y="1669098"/>
            <a:ext cx="1903928" cy="237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举报与通知机制</a:t>
            </a:r>
            <a:endParaRPr lang="en-US" sz="14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08741" y="1995805"/>
            <a:ext cx="6435090" cy="3450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为维护平台健康环境,系统提供举报功能,用户可举报不当内容或违规行为。版主收到举报后进行处理,可选择删除内容或警告用户。通知系统采用推送机制,在关键事件发生时实时通知用户。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08741" y="2420739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举报类型: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垃圾信息、不当言论、侵权内容、其他违规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708741" y="2624336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处理流程: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用户举报 → 版主审核 → 处理决定 → 结果通知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08741" y="2827933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通知触发: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评论回复、资源审核、举报处理、系统消息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08741" y="3031530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SzPct val="100000"/>
              <a:buNone/>
            </a:pPr>
            <a:r>
              <a:rPr lang="en-US" sz="9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多渠道推送:</a:t>
            </a: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站内消息、邮件通知、客户端弹窗提醒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5"/>
          <p:cNvSpPr/>
          <p:nvPr>
            <p:custDataLst>
              <p:tags r:id="rId1"/>
            </p:custDataLst>
          </p:nvPr>
        </p:nvSpPr>
        <p:spPr>
          <a:xfrm>
            <a:off x="7708741" y="3303945"/>
            <a:ext cx="126921" cy="158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01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19" name="Shape 16"/>
          <p:cNvSpPr/>
          <p:nvPr>
            <p:custDataLst>
              <p:tags r:id="rId2"/>
            </p:custDataLst>
          </p:nvPr>
        </p:nvSpPr>
        <p:spPr>
          <a:xfrm>
            <a:off x="7708741" y="3504327"/>
            <a:ext cx="643509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20" name="Text 17"/>
          <p:cNvSpPr/>
          <p:nvPr>
            <p:custDataLst>
              <p:tags r:id="rId3"/>
            </p:custDataLst>
          </p:nvPr>
        </p:nvSpPr>
        <p:spPr>
          <a:xfrm>
            <a:off x="7708741" y="3598267"/>
            <a:ext cx="1586627" cy="1983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用户举报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4"/>
            </p:custDataLst>
          </p:nvPr>
        </p:nvSpPr>
        <p:spPr>
          <a:xfrm>
            <a:off x="7708741" y="3885446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提交举报理由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5"/>
            </p:custDataLst>
          </p:nvPr>
        </p:nvSpPr>
        <p:spPr>
          <a:xfrm>
            <a:off x="7708741" y="4241919"/>
            <a:ext cx="126921" cy="158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02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6"/>
            </p:custDataLst>
          </p:nvPr>
        </p:nvSpPr>
        <p:spPr>
          <a:xfrm>
            <a:off x="7708741" y="4442301"/>
            <a:ext cx="643509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24" name="Text 21"/>
          <p:cNvSpPr/>
          <p:nvPr>
            <p:custDataLst>
              <p:tags r:id="rId7"/>
            </p:custDataLst>
          </p:nvPr>
        </p:nvSpPr>
        <p:spPr>
          <a:xfrm>
            <a:off x="7708741" y="4536242"/>
            <a:ext cx="1586627" cy="1983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版主接收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5" name="Text 22"/>
          <p:cNvSpPr/>
          <p:nvPr>
            <p:custDataLst>
              <p:tags r:id="rId8"/>
            </p:custDataLst>
          </p:nvPr>
        </p:nvSpPr>
        <p:spPr>
          <a:xfrm>
            <a:off x="7708741" y="4823420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查看举报详情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6" name="Text 23"/>
          <p:cNvSpPr/>
          <p:nvPr>
            <p:custDataLst>
              <p:tags r:id="rId9"/>
            </p:custDataLst>
          </p:nvPr>
        </p:nvSpPr>
        <p:spPr>
          <a:xfrm>
            <a:off x="7708741" y="5179893"/>
            <a:ext cx="126921" cy="158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03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27" name="Shape 24"/>
          <p:cNvSpPr/>
          <p:nvPr>
            <p:custDataLst>
              <p:tags r:id="rId10"/>
            </p:custDataLst>
          </p:nvPr>
        </p:nvSpPr>
        <p:spPr>
          <a:xfrm>
            <a:off x="7708741" y="5380276"/>
            <a:ext cx="643509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28" name="Text 25"/>
          <p:cNvSpPr/>
          <p:nvPr>
            <p:custDataLst>
              <p:tags r:id="rId11"/>
            </p:custDataLst>
          </p:nvPr>
        </p:nvSpPr>
        <p:spPr>
          <a:xfrm>
            <a:off x="7708741" y="5474216"/>
            <a:ext cx="1586627" cy="1983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审核处理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9" name="Text 26"/>
          <p:cNvSpPr/>
          <p:nvPr>
            <p:custDataLst>
              <p:tags r:id="rId12"/>
            </p:custDataLst>
          </p:nvPr>
        </p:nvSpPr>
        <p:spPr>
          <a:xfrm>
            <a:off x="7708741" y="5761395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决定处理方案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0" name="Text 27"/>
          <p:cNvSpPr/>
          <p:nvPr>
            <p:custDataLst>
              <p:tags r:id="rId13"/>
            </p:custDataLst>
          </p:nvPr>
        </p:nvSpPr>
        <p:spPr>
          <a:xfrm>
            <a:off x="7708741" y="6117868"/>
            <a:ext cx="126921" cy="158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04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31" name="Shape 28"/>
          <p:cNvSpPr/>
          <p:nvPr>
            <p:custDataLst>
              <p:tags r:id="rId14"/>
            </p:custDataLst>
          </p:nvPr>
        </p:nvSpPr>
        <p:spPr>
          <a:xfrm>
            <a:off x="7708741" y="6318250"/>
            <a:ext cx="6435090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32" name="Text 29"/>
          <p:cNvSpPr/>
          <p:nvPr>
            <p:custDataLst>
              <p:tags r:id="rId15"/>
            </p:custDataLst>
          </p:nvPr>
        </p:nvSpPr>
        <p:spPr>
          <a:xfrm>
            <a:off x="7708741" y="6412190"/>
            <a:ext cx="1586627" cy="1983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通知反馈</a:t>
            </a:r>
            <a:endParaRPr lang="en-US" sz="12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3" name="Text 30"/>
          <p:cNvSpPr/>
          <p:nvPr>
            <p:custDataLst>
              <p:tags r:id="rId16"/>
            </p:custDataLst>
          </p:nvPr>
        </p:nvSpPr>
        <p:spPr>
          <a:xfrm>
            <a:off x="7708741" y="6699369"/>
            <a:ext cx="6435090" cy="172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告知处理结果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0020" y="4067135"/>
            <a:ext cx="7477601" cy="28461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56235" y="307340"/>
            <a:ext cx="3826510" cy="313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AI智能助手功能</a:t>
            </a:r>
            <a:endParaRPr lang="en-US" sz="19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6235" y="717550"/>
            <a:ext cx="13909040" cy="39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享阅平台集成了基于DeepSeek API的AI智能助手,为用户提供学习辅导和问题解答服务。当用户在资源详情页提出问题时,系统会自动获取当前资源的上下文信息,包括资源标题、描述、标签和部分内容摘要,连同用户的问题一起发送给DeepSeek AI模型。AI会结合资源内容给出针对性的回答,帮助用户更好地理解学习材料。整个交互过程通过RESTful API实现,支持流式响应以提升用户体验。</a:t>
            </a:r>
            <a:endParaRPr lang="en-US" sz="10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45" y="1313003"/>
            <a:ext cx="362641" cy="14113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1674" y="1413015"/>
            <a:ext cx="906646" cy="156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用户提问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21673" y="1608278"/>
            <a:ext cx="5324000" cy="1321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在资源页面输入学习问题或需要解答的疑惑</a:t>
            </a:r>
            <a:endParaRPr lang="en-US" sz="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21673" y="1813542"/>
            <a:ext cx="5324000" cy="810816"/>
          </a:xfrm>
          <a:prstGeom prst="roundRect">
            <a:avLst>
              <a:gd name="adj" fmla="val 11110"/>
            </a:avLst>
          </a:prstGeom>
          <a:solidFill>
            <a:srgbClr val="F2F2F2"/>
          </a:solidFill>
        </p:spPr>
      </p:sp>
      <p:sp>
        <p:nvSpPr>
          <p:cNvPr id="11" name="Shape 7"/>
          <p:cNvSpPr/>
          <p:nvPr/>
        </p:nvSpPr>
        <p:spPr>
          <a:xfrm>
            <a:off x="916674" y="1813542"/>
            <a:ext cx="5331248" cy="810816"/>
          </a:xfrm>
          <a:prstGeom prst="roundRect">
            <a:avLst>
              <a:gd name="adj" fmla="val 1852"/>
            </a:avLst>
          </a:prstGeom>
          <a:solidFill>
            <a:srgbClr val="F2F2F2"/>
          </a:solidFill>
        </p:spPr>
      </p:sp>
      <p:sp>
        <p:nvSpPr>
          <p:cNvPr id="12" name="Text 8"/>
          <p:cNvSpPr/>
          <p:nvPr/>
        </p:nvSpPr>
        <p:spPr>
          <a:xfrm>
            <a:off x="1016685" y="1888551"/>
            <a:ext cx="5186295" cy="6607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/api/ai/ask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"question": "请解释...",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"resource_id": 123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020" y="1380922"/>
            <a:ext cx="500420" cy="14113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14448" y="1480934"/>
            <a:ext cx="1251109" cy="156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资源上下文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014448" y="1676197"/>
            <a:ext cx="7346752" cy="1321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后端获取资源元数据和内容摘要,构建完整上下文</a:t>
            </a:r>
            <a:endParaRPr lang="en-US" sz="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7014210" y="1881505"/>
            <a:ext cx="6174740" cy="810895"/>
          </a:xfrm>
          <a:prstGeom prst="roundRect">
            <a:avLst>
              <a:gd name="adj" fmla="val 11110"/>
            </a:avLst>
          </a:prstGeom>
          <a:solidFill>
            <a:srgbClr val="F2F2F2"/>
          </a:solidFill>
        </p:spPr>
      </p:sp>
      <p:sp>
        <p:nvSpPr>
          <p:cNvPr id="17" name="Shape 12"/>
          <p:cNvSpPr/>
          <p:nvPr/>
        </p:nvSpPr>
        <p:spPr>
          <a:xfrm>
            <a:off x="7009765" y="1881505"/>
            <a:ext cx="6167755" cy="810895"/>
          </a:xfrm>
          <a:prstGeom prst="roundRect">
            <a:avLst>
              <a:gd name="adj" fmla="val 1852"/>
            </a:avLst>
          </a:prstGeom>
          <a:solidFill>
            <a:srgbClr val="F2F2F2"/>
          </a:solidFill>
        </p:spPr>
      </p:sp>
      <p:sp>
        <p:nvSpPr>
          <p:cNvPr id="18" name="Text 13"/>
          <p:cNvSpPr/>
          <p:nvPr/>
        </p:nvSpPr>
        <p:spPr>
          <a:xfrm>
            <a:off x="7109460" y="1956470"/>
            <a:ext cx="7156728" cy="6607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context = {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"title": "...",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"content": "...",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"tags": [...]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}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2" y="2851305"/>
            <a:ext cx="363512" cy="154352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8871" y="2951317"/>
            <a:ext cx="908824" cy="156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DeepSeek API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08870" y="3146580"/>
            <a:ext cx="5336787" cy="1321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调用AI模型,传递问题和上下文,等待智能分析</a:t>
            </a:r>
            <a:endParaRPr lang="en-US" sz="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08870" y="3351843"/>
            <a:ext cx="5336787" cy="942975"/>
          </a:xfrm>
          <a:prstGeom prst="roundRect">
            <a:avLst>
              <a:gd name="adj" fmla="val 9553"/>
            </a:avLst>
          </a:prstGeom>
          <a:solidFill>
            <a:srgbClr val="F2F2F2"/>
          </a:solidFill>
        </p:spPr>
      </p:sp>
      <p:sp>
        <p:nvSpPr>
          <p:cNvPr id="23" name="Shape 17"/>
          <p:cNvSpPr/>
          <p:nvPr/>
        </p:nvSpPr>
        <p:spPr>
          <a:xfrm>
            <a:off x="903871" y="3351843"/>
            <a:ext cx="5344052" cy="942975"/>
          </a:xfrm>
          <a:prstGeom prst="roundRect">
            <a:avLst>
              <a:gd name="adj" fmla="val 1592"/>
            </a:avLst>
          </a:prstGeom>
          <a:solidFill>
            <a:srgbClr val="F2F2F2"/>
          </a:solidFill>
        </p:spPr>
      </p:sp>
      <p:sp>
        <p:nvSpPr>
          <p:cNvPr id="24" name="Text 18"/>
          <p:cNvSpPr/>
          <p:nvPr/>
        </p:nvSpPr>
        <p:spPr>
          <a:xfrm>
            <a:off x="1003882" y="3426853"/>
            <a:ext cx="5198751" cy="7929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response = deepseek.chat(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messages=[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  {"role": "system"},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  {"role": "user"}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]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)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840" y="2987079"/>
            <a:ext cx="500420" cy="141136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10268" y="3087091"/>
            <a:ext cx="1251109" cy="156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回答展示</a:t>
            </a:r>
            <a:endParaRPr lang="en-US" sz="9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010268" y="3282354"/>
            <a:ext cx="7346752" cy="1321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将AI生成的回答实时展示给用户,支持markdown格式</a:t>
            </a:r>
            <a:endParaRPr lang="en-US" sz="7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7010400" y="3487420"/>
            <a:ext cx="6184900" cy="810895"/>
          </a:xfrm>
          <a:prstGeom prst="roundRect">
            <a:avLst>
              <a:gd name="adj" fmla="val 11110"/>
            </a:avLst>
          </a:prstGeom>
          <a:solidFill>
            <a:srgbClr val="F2F2F2"/>
          </a:solidFill>
        </p:spPr>
      </p:sp>
      <p:sp>
        <p:nvSpPr>
          <p:cNvPr id="29" name="Shape 22"/>
          <p:cNvSpPr/>
          <p:nvPr/>
        </p:nvSpPr>
        <p:spPr>
          <a:xfrm>
            <a:off x="7005320" y="3487420"/>
            <a:ext cx="6172835" cy="810895"/>
          </a:xfrm>
          <a:prstGeom prst="roundRect">
            <a:avLst>
              <a:gd name="adj" fmla="val 1852"/>
            </a:avLst>
          </a:prstGeom>
          <a:solidFill>
            <a:srgbClr val="F2F2F2"/>
          </a:solidFill>
        </p:spPr>
      </p:sp>
      <p:sp>
        <p:nvSpPr>
          <p:cNvPr id="30" name="Text 23"/>
          <p:cNvSpPr/>
          <p:nvPr/>
        </p:nvSpPr>
        <p:spPr>
          <a:xfrm>
            <a:off x="7105015" y="3562350"/>
            <a:ext cx="6089650" cy="661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{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"answer": "...",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"confidence": 0.95,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  "references": [...]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}</a:t>
            </a:r>
            <a:endParaRPr lang="en-US" sz="7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964" y="4856083"/>
            <a:ext cx="10628571" cy="30380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38570" y="669528"/>
            <a:ext cx="3473291" cy="434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构建、部署与环境配置</a:t>
            </a:r>
            <a:endParaRPr lang="en-US" sz="27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38570" y="1471097"/>
            <a:ext cx="7556421" cy="5668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享阅项目采用前后端分离架构,前端使用CMake构建系统配合Qt6框架开发跨平台桌面客户端,后端基于Flask轻量级Web框架提供RESTful API服务,数据存储使用PostgreSQL关系型数据库。整个系统支持本地开发环境和生产环境的灵活部署,通过配置文件管理不同环境的参数差异。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938570" y="2244408"/>
            <a:ext cx="2083951" cy="260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前端构建</a:t>
            </a:r>
            <a:endParaRPr lang="en-US" sz="16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38570" y="2601952"/>
            <a:ext cx="2266474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Qt6 + C++ + CMake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938570" y="2824837"/>
            <a:ext cx="2266474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UI组件: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QML声明式界面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38570" y="3047722"/>
            <a:ext cx="2266474" cy="37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网络请求: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QNetworkAccessManager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38570" y="3459559"/>
            <a:ext cx="2266474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构建命令:</a:t>
            </a:r>
            <a:endParaRPr lang="en-US" sz="105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38570" y="3757811"/>
            <a:ext cx="2266474" cy="964168"/>
          </a:xfrm>
          <a:prstGeom prst="roundRect">
            <a:avLst>
              <a:gd name="adj" fmla="val 12969"/>
            </a:avLst>
          </a:prstGeom>
          <a:solidFill>
            <a:srgbClr val="F2F2F2"/>
          </a:solidFill>
        </p:spPr>
      </p:sp>
      <p:sp>
        <p:nvSpPr>
          <p:cNvPr id="13" name="Shape 10"/>
          <p:cNvSpPr/>
          <p:nvPr/>
        </p:nvSpPr>
        <p:spPr>
          <a:xfrm>
            <a:off x="931664" y="3757811"/>
            <a:ext cx="2280285" cy="964168"/>
          </a:xfrm>
          <a:prstGeom prst="roundRect">
            <a:avLst>
              <a:gd name="adj" fmla="val 2161"/>
            </a:avLst>
          </a:prstGeom>
          <a:solidFill>
            <a:srgbClr val="F2F2F2"/>
          </a:solidFill>
        </p:spPr>
      </p:sp>
      <p:sp>
        <p:nvSpPr>
          <p:cNvPr id="14" name="Text 11"/>
          <p:cNvSpPr/>
          <p:nvPr/>
        </p:nvSpPr>
        <p:spPr>
          <a:xfrm>
            <a:off x="1070491" y="3861991"/>
            <a:ext cx="2002631" cy="7558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mkdir build &amp;&amp; cd build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cmake ..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make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./XiangYue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51515" y="2244408"/>
            <a:ext cx="2083951" cy="260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后端服务</a:t>
            </a:r>
            <a:endParaRPr lang="en-US" sz="16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51515" y="2601952"/>
            <a:ext cx="2266474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Flask + Flask-CORS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551515" y="2824837"/>
            <a:ext cx="2266474" cy="37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PostgreSQL + SQLAlchemy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551515" y="3236674"/>
            <a:ext cx="2266474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文件存储: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本地文件系统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551515" y="3459559"/>
            <a:ext cx="2266474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启动命令:</a:t>
            </a:r>
            <a:endParaRPr lang="en-US" sz="105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551515" y="3757811"/>
            <a:ext cx="2266474" cy="1153120"/>
          </a:xfrm>
          <a:prstGeom prst="roundRect">
            <a:avLst>
              <a:gd name="adj" fmla="val 10844"/>
            </a:avLst>
          </a:prstGeom>
          <a:solidFill>
            <a:srgbClr val="F2F2F2"/>
          </a:solidFill>
        </p:spPr>
      </p:sp>
      <p:sp>
        <p:nvSpPr>
          <p:cNvPr id="21" name="Shape 18"/>
          <p:cNvSpPr/>
          <p:nvPr/>
        </p:nvSpPr>
        <p:spPr>
          <a:xfrm>
            <a:off x="3544610" y="3757811"/>
            <a:ext cx="2280285" cy="1153120"/>
          </a:xfrm>
          <a:prstGeom prst="roundRect">
            <a:avLst>
              <a:gd name="adj" fmla="val 1807"/>
            </a:avLst>
          </a:prstGeom>
          <a:solidFill>
            <a:srgbClr val="F2F2F2"/>
          </a:solidFill>
        </p:spPr>
      </p:sp>
      <p:sp>
        <p:nvSpPr>
          <p:cNvPr id="22" name="Text 19"/>
          <p:cNvSpPr/>
          <p:nvPr/>
        </p:nvSpPr>
        <p:spPr>
          <a:xfrm>
            <a:off x="3683437" y="3861991"/>
            <a:ext cx="2002631" cy="944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 install -r requirements.txt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init_db.py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app.py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服务运行在 http://localhost:5000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64461" y="2244408"/>
            <a:ext cx="2083951" cy="260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环境配置</a:t>
            </a:r>
            <a:endParaRPr lang="en-US" sz="16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164461" y="2601952"/>
            <a:ext cx="2345531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Python: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 3.8+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64461" y="2824837"/>
            <a:ext cx="2345531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Qt: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 6.2+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64461" y="3047722"/>
            <a:ext cx="2345531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PostgreSQL:</a:t>
            </a: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 12+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64461" y="3270607"/>
            <a:ext cx="2345531" cy="1889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配置文件:</a:t>
            </a:r>
            <a:endParaRPr lang="en-US" sz="105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164461" y="3568859"/>
            <a:ext cx="2345531" cy="1342073"/>
          </a:xfrm>
          <a:prstGeom prst="roundRect">
            <a:avLst>
              <a:gd name="adj" fmla="val 9317"/>
            </a:avLst>
          </a:prstGeom>
          <a:solidFill>
            <a:srgbClr val="F2F2F2"/>
          </a:solidFill>
        </p:spPr>
      </p:sp>
      <p:sp>
        <p:nvSpPr>
          <p:cNvPr id="29" name="Shape 26"/>
          <p:cNvSpPr/>
          <p:nvPr/>
        </p:nvSpPr>
        <p:spPr>
          <a:xfrm>
            <a:off x="6157555" y="3568859"/>
            <a:ext cx="2359343" cy="1342073"/>
          </a:xfrm>
          <a:prstGeom prst="roundRect">
            <a:avLst>
              <a:gd name="adj" fmla="val 1553"/>
            </a:avLst>
          </a:prstGeom>
          <a:solidFill>
            <a:srgbClr val="F2F2F2"/>
          </a:solidFill>
        </p:spPr>
      </p:sp>
      <p:sp>
        <p:nvSpPr>
          <p:cNvPr id="30" name="Text 27"/>
          <p:cNvSpPr/>
          <p:nvPr/>
        </p:nvSpPr>
        <p:spPr>
          <a:xfrm>
            <a:off x="6296382" y="3673038"/>
            <a:ext cx="2081689" cy="11337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config.py: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DATABASE_URL = "postgresql://..."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UPLOAD_FOLDER = "/uploads"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DEEPSEEK_API_KEY = "sk-..."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微软雅黑" panose="020B0503020204020204" charset="-122"/>
                <a:ea typeface="微软雅黑" panose="020B0503020204020204" charset="-122"/>
                <a:cs typeface="Consolas Medium" pitchFamily="34" charset="-120"/>
              </a:rPr>
              <a:t>MAX_FILE_SIZE = 50MB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38570" y="5129530"/>
            <a:ext cx="7556421" cy="96143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23330" y="5129530"/>
            <a:ext cx="60960" cy="961430"/>
          </a:xfrm>
          <a:prstGeom prst="roundRect">
            <a:avLst>
              <a:gd name="adj" fmla="val 205116"/>
            </a:avLst>
          </a:prstGeom>
          <a:solidFill>
            <a:srgbClr val="84C1FA"/>
          </a:solidFill>
        </p:spPr>
      </p:sp>
      <p:sp>
        <p:nvSpPr>
          <p:cNvPr id="33" name="Text 30"/>
          <p:cNvSpPr/>
          <p:nvPr/>
        </p:nvSpPr>
        <p:spPr>
          <a:xfrm>
            <a:off x="1138357" y="5283597"/>
            <a:ext cx="1736646" cy="2170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开发环境部署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138357" y="5558988"/>
            <a:ext cx="7202567" cy="37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本地运行Flask调试服务器,使用SQLite数据库快速启动,前端直接连接localhost:5000进行接口调试,支持热重载和实时日志查看。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938570" y="6188115"/>
            <a:ext cx="7556421" cy="96143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23330" y="6188115"/>
            <a:ext cx="60960" cy="961430"/>
          </a:xfrm>
          <a:prstGeom prst="roundRect">
            <a:avLst>
              <a:gd name="adj" fmla="val 205116"/>
            </a:avLst>
          </a:prstGeom>
          <a:solidFill>
            <a:srgbClr val="84C1FA"/>
          </a:solidFill>
        </p:spPr>
      </p:sp>
      <p:sp>
        <p:nvSpPr>
          <p:cNvPr id="37" name="Text 34"/>
          <p:cNvSpPr/>
          <p:nvPr/>
        </p:nvSpPr>
        <p:spPr>
          <a:xfrm>
            <a:off x="1138357" y="6342182"/>
            <a:ext cx="1736646" cy="2170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生产环境部署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138357" y="6617573"/>
            <a:ext cx="7202567" cy="37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使用Gunicorn或uWSGI作为WSGI服务器,Nginx反向代理处理静态文件,PostgreSQL作为生产数据库,配置SSL证书实现HTTPS加密传输。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5806" y="539631"/>
            <a:ext cx="2989659" cy="373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开发文档摘要概览</a:t>
            </a:r>
            <a:endParaRPr lang="en-US" sz="235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5806" y="1225391"/>
            <a:ext cx="13158788" cy="315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享阅项目配套了完整的开发文档,共计49页详细内容,涵盖从需求分析到系统测试的全流程技术说明。文档采用结构化编写方式,包含大量UML图表、接口规范和代码示例,是项目开发和维护的重要参考资料。文档不仅记录了技术实现细节,还详细说明了设计思路和决策过程,便于团队成员理解系统架构和后续迭代开发。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5806" y="1628299"/>
            <a:ext cx="4334470" cy="1224439"/>
          </a:xfrm>
          <a:prstGeom prst="roundRect">
            <a:avLst>
              <a:gd name="adj" fmla="val 8790"/>
            </a:avLst>
          </a:prstGeom>
          <a:solidFill>
            <a:srgbClr val="CEE6FD"/>
          </a:solidFill>
        </p:spPr>
      </p:sp>
      <p:sp>
        <p:nvSpPr>
          <p:cNvPr id="7" name="Shape 5"/>
          <p:cNvSpPr/>
          <p:nvPr/>
        </p:nvSpPr>
        <p:spPr>
          <a:xfrm>
            <a:off x="855345" y="1747838"/>
            <a:ext cx="358735" cy="358735"/>
          </a:xfrm>
          <a:prstGeom prst="roundRect">
            <a:avLst>
              <a:gd name="adj" fmla="val 25487019"/>
            </a:avLst>
          </a:prstGeom>
          <a:solidFill>
            <a:srgbClr val="84C1FA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048" y="1846421"/>
            <a:ext cx="161330" cy="1613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5345" y="2184202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需求分析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5345" y="2417683"/>
            <a:ext cx="4095393" cy="315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用户画像、功能需求列表、非功能性需求、用例图、业务流程分析、竞品调研对比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147905" y="1628299"/>
            <a:ext cx="4334470" cy="1224439"/>
          </a:xfrm>
          <a:prstGeom prst="roundRect">
            <a:avLst>
              <a:gd name="adj" fmla="val 8790"/>
            </a:avLst>
          </a:prstGeom>
          <a:solidFill>
            <a:srgbClr val="CEE6FD"/>
          </a:solidFill>
        </p:spPr>
      </p:sp>
      <p:sp>
        <p:nvSpPr>
          <p:cNvPr id="12" name="Shape 9"/>
          <p:cNvSpPr/>
          <p:nvPr/>
        </p:nvSpPr>
        <p:spPr>
          <a:xfrm>
            <a:off x="5267444" y="1747838"/>
            <a:ext cx="358735" cy="358735"/>
          </a:xfrm>
          <a:prstGeom prst="roundRect">
            <a:avLst>
              <a:gd name="adj" fmla="val 25487019"/>
            </a:avLst>
          </a:prstGeom>
          <a:solidFill>
            <a:srgbClr val="84C1FA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6147" y="1846421"/>
            <a:ext cx="161330" cy="1613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67444" y="2184202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系统设计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267444" y="2417683"/>
            <a:ext cx="4095393" cy="315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总体架构设计、前后端技术选型、模块划分、类图设计、时序图、状态图、部署图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560004" y="1628299"/>
            <a:ext cx="4334470" cy="1224439"/>
          </a:xfrm>
          <a:prstGeom prst="roundRect">
            <a:avLst>
              <a:gd name="adj" fmla="val 8790"/>
            </a:avLst>
          </a:prstGeom>
          <a:solidFill>
            <a:srgbClr val="CEE6FD"/>
          </a:solidFill>
        </p:spPr>
      </p:sp>
      <p:sp>
        <p:nvSpPr>
          <p:cNvPr id="17" name="Shape 13"/>
          <p:cNvSpPr/>
          <p:nvPr/>
        </p:nvSpPr>
        <p:spPr>
          <a:xfrm>
            <a:off x="9679543" y="1747838"/>
            <a:ext cx="358735" cy="358735"/>
          </a:xfrm>
          <a:prstGeom prst="roundRect">
            <a:avLst>
              <a:gd name="adj" fmla="val 25487019"/>
            </a:avLst>
          </a:prstGeom>
          <a:solidFill>
            <a:srgbClr val="84C1FA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8246" y="1846421"/>
            <a:ext cx="161330" cy="1613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79543" y="2184202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数据库设计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679543" y="2417683"/>
            <a:ext cx="4095393" cy="315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ER图、表结构详细说明、索引设计、数据字典、SQL建表语句、数据迁移方案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35806" y="2930366"/>
            <a:ext cx="6540460" cy="1066681"/>
          </a:xfrm>
          <a:prstGeom prst="roundRect">
            <a:avLst>
              <a:gd name="adj" fmla="val 10090"/>
            </a:avLst>
          </a:prstGeom>
          <a:solidFill>
            <a:srgbClr val="CEE6FD"/>
          </a:solidFill>
        </p:spPr>
      </p:sp>
      <p:sp>
        <p:nvSpPr>
          <p:cNvPr id="22" name="Shape 17"/>
          <p:cNvSpPr/>
          <p:nvPr/>
        </p:nvSpPr>
        <p:spPr>
          <a:xfrm>
            <a:off x="855345" y="3049905"/>
            <a:ext cx="358735" cy="358735"/>
          </a:xfrm>
          <a:prstGeom prst="roundRect">
            <a:avLst>
              <a:gd name="adj" fmla="val 25487019"/>
            </a:avLst>
          </a:prstGeom>
          <a:solidFill>
            <a:srgbClr val="84C1FA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048" y="3148489"/>
            <a:ext cx="161330" cy="1613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5345" y="3486269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接口文档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55345" y="3719751"/>
            <a:ext cx="6301383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RESTful API规范、所有接口的请求/响应格式、错误码定义、认证机制说明、示例代码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7353895" y="2930366"/>
            <a:ext cx="6540579" cy="1066681"/>
          </a:xfrm>
          <a:prstGeom prst="roundRect">
            <a:avLst>
              <a:gd name="adj" fmla="val 10090"/>
            </a:avLst>
          </a:prstGeom>
          <a:solidFill>
            <a:srgbClr val="CEE6FD"/>
          </a:solidFill>
        </p:spPr>
      </p:sp>
      <p:sp>
        <p:nvSpPr>
          <p:cNvPr id="27" name="Shape 21"/>
          <p:cNvSpPr/>
          <p:nvPr/>
        </p:nvSpPr>
        <p:spPr>
          <a:xfrm>
            <a:off x="7473434" y="3049905"/>
            <a:ext cx="358735" cy="358735"/>
          </a:xfrm>
          <a:prstGeom prst="roundRect">
            <a:avLst>
              <a:gd name="adj" fmla="val 25487019"/>
            </a:avLst>
          </a:prstGeom>
          <a:solidFill>
            <a:srgbClr val="84C1FA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2137" y="3148489"/>
            <a:ext cx="161330" cy="16133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73434" y="3486269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测试报告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7473434" y="3719751"/>
            <a:ext cx="6301502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测试计划、单元测试用例、集成测试场景、性能测试结果、bug统计与修复记录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735806" y="4113609"/>
            <a:ext cx="1793796" cy="224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文档主要章节</a:t>
            </a:r>
            <a:endParaRPr lang="en-US" sz="14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735806" y="4454366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01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735806" y="4642247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34" name="Text 27"/>
          <p:cNvSpPr/>
          <p:nvPr/>
        </p:nvSpPr>
        <p:spPr>
          <a:xfrm>
            <a:off x="735806" y="4732496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项目背景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735806" y="4965978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问题分析与目标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7354014" y="4454366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02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7354014" y="4642247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38" name="Text 31"/>
          <p:cNvSpPr/>
          <p:nvPr/>
        </p:nvSpPr>
        <p:spPr>
          <a:xfrm>
            <a:off x="7354014" y="4732496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需求规格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7354014" y="4965978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功能与非功能需求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735806" y="5291018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03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735806" y="5478899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42" name="Text 35"/>
          <p:cNvSpPr/>
          <p:nvPr/>
        </p:nvSpPr>
        <p:spPr>
          <a:xfrm>
            <a:off x="735806" y="5569148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架构设计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735806" y="5802630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系统模块与交互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7354014" y="5291018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04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45" name="Shape 38"/>
          <p:cNvSpPr/>
          <p:nvPr/>
        </p:nvSpPr>
        <p:spPr>
          <a:xfrm>
            <a:off x="7354014" y="5478899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46" name="Text 39"/>
          <p:cNvSpPr/>
          <p:nvPr/>
        </p:nvSpPr>
        <p:spPr>
          <a:xfrm>
            <a:off x="7354014" y="5569148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详细设计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7354014" y="5802630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类图与时序图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8" name="Text 41"/>
          <p:cNvSpPr/>
          <p:nvPr/>
        </p:nvSpPr>
        <p:spPr>
          <a:xfrm>
            <a:off x="735806" y="6127671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05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49" name="Shape 42"/>
          <p:cNvSpPr/>
          <p:nvPr/>
        </p:nvSpPr>
        <p:spPr>
          <a:xfrm>
            <a:off x="735806" y="6315551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50" name="Text 43"/>
          <p:cNvSpPr/>
          <p:nvPr/>
        </p:nvSpPr>
        <p:spPr>
          <a:xfrm>
            <a:off x="735806" y="6405801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数据建模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1" name="Text 44"/>
          <p:cNvSpPr/>
          <p:nvPr/>
        </p:nvSpPr>
        <p:spPr>
          <a:xfrm>
            <a:off x="735806" y="6639282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ER图与表结构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 45"/>
          <p:cNvSpPr/>
          <p:nvPr/>
        </p:nvSpPr>
        <p:spPr>
          <a:xfrm>
            <a:off x="7354014" y="6127671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06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53" name="Shape 46"/>
          <p:cNvSpPr/>
          <p:nvPr/>
        </p:nvSpPr>
        <p:spPr>
          <a:xfrm>
            <a:off x="7354014" y="6315551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54" name="Text 47"/>
          <p:cNvSpPr/>
          <p:nvPr/>
        </p:nvSpPr>
        <p:spPr>
          <a:xfrm>
            <a:off x="7354014" y="6405801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接口规范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5" name="Text 48"/>
          <p:cNvSpPr/>
          <p:nvPr/>
        </p:nvSpPr>
        <p:spPr>
          <a:xfrm>
            <a:off x="7354014" y="6639282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API文档与示例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 49"/>
          <p:cNvSpPr/>
          <p:nvPr/>
        </p:nvSpPr>
        <p:spPr>
          <a:xfrm>
            <a:off x="735806" y="6964323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07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57" name="Shape 50"/>
          <p:cNvSpPr/>
          <p:nvPr/>
        </p:nvSpPr>
        <p:spPr>
          <a:xfrm>
            <a:off x="735806" y="7152203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58" name="Text 51"/>
          <p:cNvSpPr/>
          <p:nvPr/>
        </p:nvSpPr>
        <p:spPr>
          <a:xfrm>
            <a:off x="735806" y="7242453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实现细节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9" name="Text 52"/>
          <p:cNvSpPr/>
          <p:nvPr/>
        </p:nvSpPr>
        <p:spPr>
          <a:xfrm>
            <a:off x="735806" y="7475934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核心代码说明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60" name="Text 53"/>
          <p:cNvSpPr/>
          <p:nvPr/>
        </p:nvSpPr>
        <p:spPr>
          <a:xfrm>
            <a:off x="7354014" y="6964323"/>
            <a:ext cx="119539" cy="149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Light" pitchFamily="34" charset="-120"/>
              </a:rPr>
              <a:t>08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Light" pitchFamily="34" charset="-120"/>
            </a:endParaRPr>
          </a:p>
        </p:txBody>
      </p:sp>
      <p:sp>
        <p:nvSpPr>
          <p:cNvPr id="61" name="Shape 54"/>
          <p:cNvSpPr/>
          <p:nvPr/>
        </p:nvSpPr>
        <p:spPr>
          <a:xfrm>
            <a:off x="7354014" y="7152203"/>
            <a:ext cx="6540579" cy="15240"/>
          </a:xfrm>
          <a:prstGeom prst="rect">
            <a:avLst/>
          </a:prstGeom>
          <a:solidFill>
            <a:srgbClr val="84C1FA"/>
          </a:solidFill>
        </p:spPr>
      </p:sp>
      <p:sp>
        <p:nvSpPr>
          <p:cNvPr id="62" name="Text 55"/>
          <p:cNvSpPr/>
          <p:nvPr/>
        </p:nvSpPr>
        <p:spPr>
          <a:xfrm>
            <a:off x="7354014" y="7242453"/>
            <a:ext cx="1494830" cy="18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测试验证</a:t>
            </a:r>
            <a:endParaRPr lang="en-US" sz="11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63" name="Text 56"/>
          <p:cNvSpPr/>
          <p:nvPr/>
        </p:nvSpPr>
        <p:spPr>
          <a:xfrm>
            <a:off x="7354014" y="7475934"/>
            <a:ext cx="6540579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测试用例与结果</a:t>
            </a:r>
            <a:endParaRPr lang="en-US" sz="9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1410" y="829786"/>
            <a:ext cx="4465558" cy="558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开发挑战与解决方案</a:t>
            </a:r>
            <a:endParaRPr lang="en-US" sz="35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1950363"/>
            <a:ext cx="13042821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在享阅平台的开发过程中,团队遇到了多个技术难点和挑战。通过深入研究和团队协作,我们逐一攻克了这些问题,积累了宝贵的项目经验。以下是主要挑战及其解决方案的详细说明。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2674144"/>
            <a:ext cx="13042821" cy="4792980"/>
          </a:xfrm>
          <a:prstGeom prst="roundRect">
            <a:avLst>
              <a:gd name="adj" fmla="val 335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2681764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980122" y="2785824"/>
            <a:ext cx="4850011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开发挑战</a:t>
            </a:r>
            <a:endParaRPr lang="en-US" sz="140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94941" y="2785824"/>
            <a:ext cx="7455456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解决方案</a:t>
            </a:r>
            <a:endParaRPr lang="en-US" sz="140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410" y="3161348"/>
            <a:ext cx="13027581" cy="751046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980122" y="3265408"/>
            <a:ext cx="4850011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文件上传安全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防止恶意文件上传和存储安全隐患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94941" y="3265408"/>
            <a:ext cx="7455456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实现多层安全检查:1) 文件类型白名单验证(仅允许PDF/Word等文档格式) 2) 文件大小限制(最大50MB) 3) 文件名随机化处理防止路径遍历攻击 4) 病毒扫描集成 5) 存储路径权限控制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3912394"/>
            <a:ext cx="13027581" cy="102250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980122" y="4016454"/>
            <a:ext cx="4850011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跨域请求问题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前端Qt应用与Flask后端通信受限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94941" y="4016454"/>
            <a:ext cx="7455456" cy="8143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后端配置Flask-CORS扩展,设置允许的源、方法和头部:CORS(app, resources={r"/api/*": {"origins": "*", "methods": ["GET", "POST", "PUT", "DELETE"]}})。前端在请求中添加必要的认证头部信息。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4934903"/>
            <a:ext cx="13027581" cy="751046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80122" y="5038963"/>
            <a:ext cx="4850011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PDF在线预览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实现浏览器内PDF阅读功能的技术挑战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94941" y="5038963"/>
            <a:ext cx="7455456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采用pdf.js库实现前端PDF渲染,后端提供分页API返回PDF页面图像数据。支持缩放、跳转页面、搜索文本等功能。对大文件采用分块加载策略,优化内存占用。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1410" y="5685949"/>
            <a:ext cx="13027581" cy="75104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980122" y="5790009"/>
            <a:ext cx="4850011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AI接口超时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API响应时间长导致用户体验差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94941" y="5790009"/>
            <a:ext cx="7455456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实现异步请求处理:1) 前端显示加载动画和进度提示 2) 后端使用流式响应,分批返回AI生成内容 3) 设置合理的超时时间(30秒)和重试机制 4) 添加请求队列管理,防止并发过载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1410" y="6436995"/>
            <a:ext cx="13027581" cy="102250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980122" y="6541056"/>
            <a:ext cx="4850011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评论嵌套查询</a:t>
            </a: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多层级评论树的高效加载和显示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94941" y="6541056"/>
            <a:ext cx="7455456" cy="8143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采用递归查询+缓存策略:1) 数据库使用parent_id字段建立树形结构 2) 单次查询加载所有评论后在应用层构建树 3) 前端实现虚拟滚动,按需渲染可见评论 4) Redis缓存热门资源的评论树,减少数据库压力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1682" y="1037669"/>
            <a:ext cx="1797248" cy="2246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项目总结与成果展示</a:t>
            </a:r>
            <a:endParaRPr lang="en-US" sz="14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1682" y="1332349"/>
            <a:ext cx="13745766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为期三个月的协同开发,享阅平台项目圆满完成了预期目标。团队成功构建了一个功能完善、技术先进的学术资源共享平台,实现了从需求分析、系统设计、编码实现到测试部署的完整软件工程流程。项目不仅锻炼了团队成员的技术能力,更培养了团队协作精神和项目管理经验。</a:t>
            </a:r>
            <a:endParaRPr lang="en-US" sz="8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1682" y="1515586"/>
            <a:ext cx="3392686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15+</a:t>
            </a:r>
            <a:endParaRPr lang="en-US" sz="18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88743" y="1823601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核心功能模块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1682" y="1963857"/>
            <a:ext cx="3392686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涵盖用户管理、资源上传下载、审核系统、评论互动、AI助手等完整业务流程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92709" y="1515586"/>
            <a:ext cx="3392686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30+</a:t>
            </a:r>
            <a:endParaRPr lang="en-US" sz="18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39769" y="1823601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RESTful接口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92709" y="1963857"/>
            <a:ext cx="3392686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设计并实现了30多个后端API接口,覆盖所有前端业务需求,接口文档完善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43735" y="1515586"/>
            <a:ext cx="3392686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8</a:t>
            </a:r>
            <a:endParaRPr lang="en-US" sz="18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90796" y="1823601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数据库表设计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43735" y="1963857"/>
            <a:ext cx="3392686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规范化的数据库设计,包含用户、资源、评论、标签、通知等核心业务表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94762" y="1515586"/>
            <a:ext cx="3392686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5000+</a:t>
            </a:r>
            <a:endParaRPr lang="en-US" sz="18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041823" y="1823601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代码行数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794762" y="1963857"/>
            <a:ext cx="3392686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高质量代码实现,前端Qt/QML约3000行,后端Flask约2000行,注释完善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1682" y="2128758"/>
            <a:ext cx="1078349" cy="134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技术栈掌握情况</a:t>
            </a:r>
            <a:endParaRPr lang="en-US" sz="8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84960" y="4259024"/>
            <a:ext cx="884158" cy="1796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95%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924" y="3809802"/>
            <a:ext cx="1078349" cy="107834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87646" y="4952048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Qt6 + C++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-2141498" y="4146431"/>
            <a:ext cx="6785253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桌面应用开发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078605" y="4258826"/>
            <a:ext cx="884158" cy="1796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90%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569" y="3809603"/>
            <a:ext cx="1078349" cy="107834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71461" y="4952484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Flask + Python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1128117" y="5111433"/>
            <a:ext cx="6785253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后端API开发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565900" y="4258628"/>
            <a:ext cx="884158" cy="1796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85%</a:t>
            </a:r>
            <a:endParaRPr lang="en-US" sz="14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244" y="3810040"/>
            <a:ext cx="1078349" cy="107834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51136" y="4952921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PostgreSQL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3607792" y="5111869"/>
            <a:ext cx="6785253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数据库设计与优化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8863965" y="4584303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团队协作与成长</a:t>
            </a:r>
            <a:endParaRPr lang="en-US" sz="7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8863965" y="4762937"/>
            <a:ext cx="6785253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SzPct val="100000"/>
              <a:buNone/>
            </a:pPr>
            <a:r>
              <a:rPr lang="en-US" sz="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版本控制:</a:t>
            </a: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熟练使用Git进行代码管理,建立规范的分支策略和代码审查流程</a:t>
            </a:r>
            <a:endParaRPr lang="en-US" sz="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863965" y="4874141"/>
            <a:ext cx="6785253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SzPct val="100000"/>
              <a:buNone/>
            </a:pPr>
            <a:r>
              <a:rPr lang="en-US" sz="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敏捷开发:</a:t>
            </a: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采用Scrum方法论,每周进行迭代规划和回顾会议</a:t>
            </a:r>
            <a:endParaRPr lang="en-US" sz="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863965" y="5006300"/>
            <a:ext cx="6785253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SzPct val="100000"/>
              <a:buNone/>
            </a:pPr>
            <a:r>
              <a:rPr lang="en-US" sz="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文档规范:</a:t>
            </a: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建立了完善的技术文档体系,包括需求、设计、接口、测试文档</a:t>
            </a:r>
            <a:endParaRPr lang="en-US" sz="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863965" y="5096550"/>
            <a:ext cx="6785253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SzPct val="100000"/>
              <a:buNone/>
            </a:pPr>
            <a:r>
              <a:rPr lang="en-US" sz="5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技术分享:</a:t>
            </a: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团队成员定期进行技术分享,互相学习新技术和最佳实践</a:t>
            </a:r>
            <a:endParaRPr lang="en-US" sz="5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442317" y="5872202"/>
            <a:ext cx="1078349" cy="134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未来发展规划</a:t>
            </a:r>
            <a:endParaRPr lang="en-US" sz="8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442317" y="6076990"/>
            <a:ext cx="6849547" cy="215622"/>
          </a:xfrm>
          <a:prstGeom prst="roundRect">
            <a:avLst>
              <a:gd name="adj" fmla="val 480130"/>
            </a:avLst>
          </a:prstGeom>
          <a:solidFill>
            <a:srgbClr val="CEE6FD"/>
          </a:solidFill>
        </p:spPr>
      </p:sp>
      <p:sp>
        <p:nvSpPr>
          <p:cNvPr id="38" name="Text 33"/>
          <p:cNvSpPr/>
          <p:nvPr/>
        </p:nvSpPr>
        <p:spPr>
          <a:xfrm>
            <a:off x="3813215" y="6117352"/>
            <a:ext cx="107752" cy="134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1</a:t>
            </a:r>
            <a:endParaRPr lang="en-US" sz="8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514112" y="6339284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云端部署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514112" y="6479540"/>
            <a:ext cx="6705957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迁移到阿里云/腾讯云,实现高可用和弹性扩展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7338536" y="6076990"/>
            <a:ext cx="6849547" cy="215622"/>
          </a:xfrm>
          <a:prstGeom prst="roundRect">
            <a:avLst>
              <a:gd name="adj" fmla="val 480130"/>
            </a:avLst>
          </a:prstGeom>
          <a:solidFill>
            <a:srgbClr val="CEE6FD"/>
          </a:solidFill>
        </p:spPr>
      </p:sp>
      <p:sp>
        <p:nvSpPr>
          <p:cNvPr id="42" name="Text 37"/>
          <p:cNvSpPr/>
          <p:nvPr/>
        </p:nvSpPr>
        <p:spPr>
          <a:xfrm>
            <a:off x="10709434" y="6117352"/>
            <a:ext cx="107752" cy="134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2</a:t>
            </a:r>
            <a:endParaRPr lang="en-US" sz="8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7410331" y="6339284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移动端开发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7410331" y="6479540"/>
            <a:ext cx="6705957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开发iOS和Android移动应用,扩大用户覆盖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Shape 40"/>
          <p:cNvSpPr/>
          <p:nvPr/>
        </p:nvSpPr>
        <p:spPr>
          <a:xfrm>
            <a:off x="442317" y="6692900"/>
            <a:ext cx="6849547" cy="215622"/>
          </a:xfrm>
          <a:prstGeom prst="roundRect">
            <a:avLst>
              <a:gd name="adj" fmla="val 480130"/>
            </a:avLst>
          </a:prstGeom>
          <a:solidFill>
            <a:srgbClr val="CEE6FD"/>
          </a:solidFill>
        </p:spPr>
      </p:sp>
      <p:sp>
        <p:nvSpPr>
          <p:cNvPr id="46" name="Text 41"/>
          <p:cNvSpPr/>
          <p:nvPr/>
        </p:nvSpPr>
        <p:spPr>
          <a:xfrm>
            <a:off x="3813215" y="6733262"/>
            <a:ext cx="107752" cy="134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3</a:t>
            </a:r>
            <a:endParaRPr lang="en-US" sz="8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514112" y="6955195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AI功能增强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514112" y="7095450"/>
            <a:ext cx="6705957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引入文档智能摘要、相似资源推荐等更多AI特性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7338536" y="6692900"/>
            <a:ext cx="6849547" cy="215622"/>
          </a:xfrm>
          <a:prstGeom prst="roundRect">
            <a:avLst>
              <a:gd name="adj" fmla="val 480130"/>
            </a:avLst>
          </a:prstGeom>
          <a:solidFill>
            <a:srgbClr val="CEE6FD"/>
          </a:solidFill>
        </p:spPr>
      </p:sp>
      <p:sp>
        <p:nvSpPr>
          <p:cNvPr id="50" name="Text 45"/>
          <p:cNvSpPr/>
          <p:nvPr/>
        </p:nvSpPr>
        <p:spPr>
          <a:xfrm>
            <a:off x="10709434" y="6733262"/>
            <a:ext cx="107752" cy="134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4</a:t>
            </a:r>
            <a:endParaRPr lang="en-US" sz="8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7410331" y="6955195"/>
            <a:ext cx="898565" cy="112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社区运营</a:t>
            </a:r>
            <a:endParaRPr lang="en-US" sz="70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2" name="Text 47"/>
          <p:cNvSpPr/>
          <p:nvPr/>
        </p:nvSpPr>
        <p:spPr>
          <a:xfrm>
            <a:off x="7410331" y="7095450"/>
            <a:ext cx="6705957" cy="94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建立用户等级体系、积分奖励和优质内容激励机制</a:t>
            </a:r>
            <a:endParaRPr lang="en-US" sz="5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3425" y="782598"/>
            <a:ext cx="4124801" cy="4298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享阅平台核心技术架构总览</a:t>
            </a:r>
            <a:endParaRPr lang="en-US" sz="27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3425" y="1367076"/>
            <a:ext cx="13163550" cy="385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本次实训项目的完整技术总结,本页面展示了享阅平台的完整技术栈和架构设计。整个系统采用前后端分离、模块化设计的现代软件工程理念,确保了代码的可维护性、可扩展性和高性能。从用户界面到数据持久化,从业务逻辑到智能服务,每一层都经过精心设计和实现。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3425" y="1868091"/>
            <a:ext cx="6530221" cy="1912977"/>
          </a:xfrm>
          <a:prstGeom prst="roundRect">
            <a:avLst>
              <a:gd name="adj" fmla="val 17253"/>
            </a:avLst>
          </a:prstGeom>
          <a:solidFill>
            <a:srgbClr val="CEE6FD"/>
          </a:solidFill>
        </p:spPr>
      </p:sp>
      <p:sp>
        <p:nvSpPr>
          <p:cNvPr id="7" name="Text 5"/>
          <p:cNvSpPr/>
          <p:nvPr/>
        </p:nvSpPr>
        <p:spPr>
          <a:xfrm>
            <a:off x="870942" y="2005608"/>
            <a:ext cx="1746647" cy="214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表示层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0942" y="2282309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Qt6桌面客户端</a:t>
            </a:r>
            <a:endParaRPr lang="en-US" sz="105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0942" y="25366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QML声明式UI界面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0942" y="27652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响应式布局设计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0942" y="29938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Material Design风格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0942" y="32224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跨平台兼容(Windows/macOS/Linux)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66754" y="1868091"/>
            <a:ext cx="6530221" cy="1912977"/>
          </a:xfrm>
          <a:prstGeom prst="roundRect">
            <a:avLst>
              <a:gd name="adj" fmla="val 17253"/>
            </a:avLst>
          </a:prstGeom>
          <a:solidFill>
            <a:srgbClr val="CEE6FD"/>
          </a:solidFill>
        </p:spPr>
      </p:sp>
      <p:sp>
        <p:nvSpPr>
          <p:cNvPr id="14" name="Text 12"/>
          <p:cNvSpPr/>
          <p:nvPr/>
        </p:nvSpPr>
        <p:spPr>
          <a:xfrm>
            <a:off x="7504271" y="2005608"/>
            <a:ext cx="1894046" cy="214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业务层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04271" y="2282309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Flask RESTful API</a:t>
            </a:r>
            <a:endParaRPr lang="en-US" sz="105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04271" y="25366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用户认证与授权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04271" y="27652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资源CRUD操作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04271" y="29938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审核工作流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04271" y="32224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评论与互动逻辑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04271" y="3451027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通知推送服务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3425" y="3884176"/>
            <a:ext cx="6530221" cy="1684377"/>
          </a:xfrm>
          <a:prstGeom prst="roundRect">
            <a:avLst>
              <a:gd name="adj" fmla="val 19595"/>
            </a:avLst>
          </a:prstGeom>
          <a:solidFill>
            <a:srgbClr val="CEE6FD"/>
          </a:solidFill>
        </p:spPr>
      </p:sp>
      <p:sp>
        <p:nvSpPr>
          <p:cNvPr id="22" name="Text 20"/>
          <p:cNvSpPr/>
          <p:nvPr/>
        </p:nvSpPr>
        <p:spPr>
          <a:xfrm>
            <a:off x="870942" y="4021693"/>
            <a:ext cx="1719024" cy="214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 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0942" y="4298394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 + 文件系统</a:t>
            </a:r>
            <a:endParaRPr lang="en-US" sz="105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0942" y="45527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关系型数据建模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0942" y="47813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索引与查询优化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0942" y="50099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文件分布式存储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0942" y="52385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数据备份与恢复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66754" y="3884176"/>
            <a:ext cx="6530221" cy="1684377"/>
          </a:xfrm>
          <a:prstGeom prst="roundRect">
            <a:avLst>
              <a:gd name="adj" fmla="val 19595"/>
            </a:avLst>
          </a:prstGeom>
          <a:solidFill>
            <a:srgbClr val="CEE6FD"/>
          </a:solidFill>
        </p:spPr>
      </p:sp>
      <p:sp>
        <p:nvSpPr>
          <p:cNvPr id="29" name="Text 27"/>
          <p:cNvSpPr/>
          <p:nvPr/>
        </p:nvSpPr>
        <p:spPr>
          <a:xfrm>
            <a:off x="7504271" y="4021693"/>
            <a:ext cx="1719024" cy="214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智能层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04271" y="4298394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AI 集成</a:t>
            </a:r>
            <a:endParaRPr lang="en-US" sz="1050" b="1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04271" y="45527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自然语言理解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04271" y="47813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上下文感知对话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04271" y="50099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学术问答辅导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04271" y="5238512"/>
            <a:ext cx="6255187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内容智能推荐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3425" y="5723215"/>
            <a:ext cx="2062758" cy="2578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系统关键技术指标</a:t>
            </a:r>
            <a:endParaRPr lang="en-US" sz="1600" dirty="0">
              <a:solidFill>
                <a:srgbClr val="091C5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3425" y="6204466"/>
            <a:ext cx="3724394" cy="171807"/>
          </a:xfrm>
          <a:prstGeom prst="roundRect">
            <a:avLst>
              <a:gd name="adj" fmla="val 72040"/>
            </a:avLst>
          </a:prstGeom>
          <a:solidFill>
            <a:srgbClr val="CEE6FD"/>
          </a:solidFill>
        </p:spPr>
      </p:sp>
      <p:sp>
        <p:nvSpPr>
          <p:cNvPr id="37" name="Shape 35"/>
          <p:cNvSpPr/>
          <p:nvPr/>
        </p:nvSpPr>
        <p:spPr>
          <a:xfrm>
            <a:off x="733425" y="6204466"/>
            <a:ext cx="3705701" cy="171807"/>
          </a:xfrm>
          <a:prstGeom prst="roundRect">
            <a:avLst>
              <a:gd name="adj" fmla="val 72040"/>
            </a:avLst>
          </a:prstGeom>
          <a:solidFill>
            <a:srgbClr val="84C1FA"/>
          </a:solidFill>
        </p:spPr>
      </p:sp>
      <p:sp>
        <p:nvSpPr>
          <p:cNvPr id="38" name="Text 36"/>
          <p:cNvSpPr/>
          <p:nvPr/>
        </p:nvSpPr>
        <p:spPr>
          <a:xfrm>
            <a:off x="4560927" y="6204466"/>
            <a:ext cx="474464" cy="171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99.5%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3425" y="6522244"/>
            <a:ext cx="1719024" cy="214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系统可用性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3425" y="6798945"/>
            <a:ext cx="4301966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全年稳定运行时间占比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164217" y="6204466"/>
            <a:ext cx="3621643" cy="171807"/>
          </a:xfrm>
          <a:prstGeom prst="roundRect">
            <a:avLst>
              <a:gd name="adj" fmla="val 72040"/>
            </a:avLst>
          </a:prstGeom>
          <a:solidFill>
            <a:srgbClr val="CEE6FD"/>
          </a:solidFill>
        </p:spPr>
      </p:sp>
      <p:sp>
        <p:nvSpPr>
          <p:cNvPr id="42" name="Shape 40"/>
          <p:cNvSpPr/>
          <p:nvPr/>
        </p:nvSpPr>
        <p:spPr>
          <a:xfrm>
            <a:off x="5164217" y="6204466"/>
            <a:ext cx="3621643" cy="171807"/>
          </a:xfrm>
          <a:prstGeom prst="roundRect">
            <a:avLst>
              <a:gd name="adj" fmla="val 72040"/>
            </a:avLst>
          </a:prstGeom>
          <a:solidFill>
            <a:srgbClr val="84C1FA"/>
          </a:solidFill>
        </p:spPr>
      </p:sp>
      <p:sp>
        <p:nvSpPr>
          <p:cNvPr id="43" name="Text 41"/>
          <p:cNvSpPr/>
          <p:nvPr/>
        </p:nvSpPr>
        <p:spPr>
          <a:xfrm>
            <a:off x="8888968" y="6204466"/>
            <a:ext cx="577215" cy="171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200ms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64217" y="6522244"/>
            <a:ext cx="1719024" cy="214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平均响应时间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64217" y="6798945"/>
            <a:ext cx="4301966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API接口平均延迟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595009" y="6204466"/>
            <a:ext cx="3688556" cy="171807"/>
          </a:xfrm>
          <a:prstGeom prst="roundRect">
            <a:avLst>
              <a:gd name="adj" fmla="val 72040"/>
            </a:avLst>
          </a:prstGeom>
          <a:solidFill>
            <a:srgbClr val="CEE6FD"/>
          </a:solidFill>
        </p:spPr>
      </p:sp>
      <p:sp>
        <p:nvSpPr>
          <p:cNvPr id="47" name="Shape 45"/>
          <p:cNvSpPr/>
          <p:nvPr/>
        </p:nvSpPr>
        <p:spPr>
          <a:xfrm>
            <a:off x="9595009" y="6204466"/>
            <a:ext cx="3688556" cy="171807"/>
          </a:xfrm>
          <a:prstGeom prst="roundRect">
            <a:avLst>
              <a:gd name="adj" fmla="val 72040"/>
            </a:avLst>
          </a:prstGeom>
          <a:solidFill>
            <a:srgbClr val="84C1FA"/>
          </a:solidFill>
        </p:spPr>
      </p:sp>
      <p:sp>
        <p:nvSpPr>
          <p:cNvPr id="48" name="Text 46"/>
          <p:cNvSpPr/>
          <p:nvPr/>
        </p:nvSpPr>
        <p:spPr>
          <a:xfrm>
            <a:off x="13386673" y="6204466"/>
            <a:ext cx="510302" cy="171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1000+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595009" y="6522244"/>
            <a:ext cx="1719024" cy="214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Semi Bold" pitchFamily="34" charset="-120"/>
              </a:rPr>
              <a:t>并发用户支持</a:t>
            </a:r>
            <a:endParaRPr lang="en-US" sz="13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Semi Bold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595009" y="6798945"/>
            <a:ext cx="4301966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Instrument Sans Medium" pitchFamily="34" charset="-120"/>
              </a:rPr>
              <a:t>同时在线用户容量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Instrument Sans Medium" pitchFamily="34" charset="-12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39641" y="7223403"/>
            <a:ext cx="12957334" cy="385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"通过本次实训项目,我们不仅掌握了现代软件开发的完整流程,更重要的是学会了如何将理论知识应用于实际工程实践。享阅平台的成功开发证明了团队的技术能力和协作精神,为未来的职业发展奠定了坚实基础。" — 项目团队</a:t>
            </a:r>
            <a:endParaRPr lang="en-US" sz="1050" dirty="0">
              <a:solidFill>
                <a:srgbClr val="1E30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33425" y="7107436"/>
            <a:ext cx="15240" cy="616982"/>
          </a:xfrm>
          <a:prstGeom prst="rect">
            <a:avLst/>
          </a:prstGeom>
          <a:solidFill>
            <a:srgbClr val="84C1FA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2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3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4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5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6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7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8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9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10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11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12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13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14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15.xml><?xml version="1.0" encoding="utf-8"?>
<p:tagLst xmlns:p="http://schemas.openxmlformats.org/presentationml/2006/main">
  <p:tag name="KSO_WM_DIAGRAM_VIRTUALLY_FRAME" val="{&quot;height&quot;:353.3656692913386,&quot;left&quot;:54.95,&quot;top&quot;:249.6,&quot;width&quot;:1010.7}"/>
</p:tagLst>
</file>

<file path=ppt/tags/tag16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17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18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19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0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1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2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3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4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5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6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7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8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29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30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31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32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33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34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35.xml><?xml version="1.0" encoding="utf-8"?>
<p:tagLst xmlns:p="http://schemas.openxmlformats.org/presentationml/2006/main">
  <p:tag name="KSO_WM_DIAGRAM_VIRTUALLY_FRAME" val="{&quot;height&quot;:164.59692913385823,&quot;left&quot;:59.63440944881889,&quot;top&quot;:119.28748031496063,&quot;width&quot;:1032.7312598425196}"/>
</p:tagLst>
</file>

<file path=ppt/tags/tag36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37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38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39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0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1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2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3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4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5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6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7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8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49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0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1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2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3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4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5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6.xml><?xml version="1.0" encoding="utf-8"?>
<p:tagLst xmlns:p="http://schemas.openxmlformats.org/presentationml/2006/main">
  <p:tag name="KSO_WM_DIAGRAM_VIRTUALLY_FRAME" val="{&quot;height&quot;:228.75937007874018,&quot;left&quot;:62.49842519685039,&quot;top&quot;:353.8874803149606,&quot;width&quot;:594.9984251968505}"/>
</p:tagLst>
</file>

<file path=ppt/tags/tag57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58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59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0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1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2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3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4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5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6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7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8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69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70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71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ags/tag72.xml><?xml version="1.0" encoding="utf-8"?>
<p:tagLst xmlns:p="http://schemas.openxmlformats.org/presentationml/2006/main">
  <p:tag name="KSO_WM_DIAGRAM_VIRTUALLY_FRAME" val="{&quot;height&quot;:304.7406299212598,&quot;left&quot;:588.7874803149606,&quot;top&quot;:236.3531496062992,&quot;width&quot;:524.90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8445</Words>
  <Application>WPS 演示</Application>
  <PresentationFormat>自定义</PresentationFormat>
  <Paragraphs>863</Paragraphs>
  <Slides>18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1" baseType="lpstr">
      <vt:lpstr>Arial</vt:lpstr>
      <vt:lpstr>宋体</vt:lpstr>
      <vt:lpstr>Wingdings</vt:lpstr>
      <vt:lpstr>Instrument Sans Semi Bold</vt:lpstr>
      <vt:lpstr>Instrument Sans Semi Bold</vt:lpstr>
      <vt:lpstr>Instrument Sans Semi Bold</vt:lpstr>
      <vt:lpstr>Instrument Sans Medium</vt:lpstr>
      <vt:lpstr>Instrument Sans Medium</vt:lpstr>
      <vt:lpstr>Instrument Sans Medium</vt:lpstr>
      <vt:lpstr>Instrument Sans Light</vt:lpstr>
      <vt:lpstr>Segoe Print</vt:lpstr>
      <vt:lpstr>Instrument Sans Light</vt:lpstr>
      <vt:lpstr>Instrument Sans Light</vt:lpstr>
      <vt:lpstr>Consolas Medium</vt:lpstr>
      <vt:lpstr>Consolas</vt:lpstr>
      <vt:lpstr>Consolas Medium</vt:lpstr>
      <vt:lpstr>Consolas Medium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枫</cp:lastModifiedBy>
  <cp:revision>6</cp:revision>
  <dcterms:created xsi:type="dcterms:W3CDTF">2026-01-16T09:08:00Z</dcterms:created>
  <dcterms:modified xsi:type="dcterms:W3CDTF">2026-01-16T04:34:53Z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998E608D5DE74B42BDFAAA40E170038B_13</vt:lpwstr>
  </property>
  <property fmtid="{D5CDD505-2E9C-101B-9397-08002B2CF9AE}" pid="3" name="KSOProductBuildVer">
    <vt:lpwstr>2052-12.1.0.24657</vt:lpwstr>
  </property>
</Properties>
</file>